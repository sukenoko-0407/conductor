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dc09276494aa7" /><Relationship Type="http://schemas.openxmlformats.org/officeDocument/2006/relationships/extended-properties" Target="/docProps/app.xml" Id="R5cbc3904e6d447b0" /><Relationship Type="http://schemas.openxmlformats.org/officeDocument/2006/relationships/officeDocument" Target="/ppt/presentation.xml" Id="R328a3ed2788f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7cb0382d84f6c"/>
  </p:sldMasterIdLst>
  <p:notesMasterIdLst>
    <p:notesMasterId xmlns:r="http://schemas.openxmlformats.org/officeDocument/2006/relationships" r:id="R896938d772194fb1"/>
  </p:notesMasterIdLst>
  <p:sldIdLst>
    <p:sldId xmlns:r="http://schemas.openxmlformats.org/officeDocument/2006/relationships" id="256" r:id="R6655dbc8d7d74204"/>
    <p:sldId xmlns:r="http://schemas.openxmlformats.org/officeDocument/2006/relationships" id="257" r:id="R0f1905c5b7f643f7"/>
    <p:sldId xmlns:r="http://schemas.openxmlformats.org/officeDocument/2006/relationships" id="258" r:id="R83675a375d6542ac"/>
    <p:sldId xmlns:r="http://schemas.openxmlformats.org/officeDocument/2006/relationships" id="259" r:id="Rcbe83c3d48c246a1"/>
    <p:sldId xmlns:r="http://schemas.openxmlformats.org/officeDocument/2006/relationships" id="260" r:id="R7fddc32a6a0e4e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7cb0382d84f6c" /><Relationship Type="http://schemas.openxmlformats.org/officeDocument/2006/relationships/theme" Target="/ppt/theme/theme1.xml" Id="R5699b8b095254084" /><Relationship Type="http://schemas.openxmlformats.org/officeDocument/2006/relationships/notesMaster" Target="/ppt/notesMasters/notesMaster1.xml" Id="R896938d772194fb1" /><Relationship Type="http://schemas.openxmlformats.org/officeDocument/2006/relationships/presProps" Target="/ppt/presProps.xml" Id="R88d11333858149ca" /><Relationship Type="http://schemas.openxmlformats.org/officeDocument/2006/relationships/viewProps" Target="/ppt/viewProps.xml" Id="R38d25de9b2444fe7" /><Relationship Type="http://schemas.openxmlformats.org/officeDocument/2006/relationships/tableStyles" Target="/ppt/tableStyles.xml" Id="R811d11d9fcec4f96" /><Relationship Type="http://schemas.openxmlformats.org/officeDocument/2006/relationships/slide" Target="/ppt/slides/slide1.xml" Id="R6655dbc8d7d74204" /><Relationship Type="http://schemas.openxmlformats.org/officeDocument/2006/relationships/slide" Target="/ppt/slides/slide2.xml" Id="R0f1905c5b7f643f7" /><Relationship Type="http://schemas.openxmlformats.org/officeDocument/2006/relationships/slide" Target="/ppt/slides/slide3.xml" Id="R83675a375d6542ac" /><Relationship Type="http://schemas.openxmlformats.org/officeDocument/2006/relationships/slide" Target="/ppt/slides/slide4.xml" Id="Rcbe83c3d48c246a1" /><Relationship Type="http://schemas.openxmlformats.org/officeDocument/2006/relationships/slide" Target="/ppt/slides/slide5.xml" Id="R7fddc32a6a0e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a636458e80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a9e552f2514c4c" /><Relationship Type="http://schemas.openxmlformats.org/officeDocument/2006/relationships/notesMaster" Target="/ppt/notesMasters/notesMaster1.xml" Id="R439eea671d5d4f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0ad64047c48f4" /><Relationship Type="http://schemas.openxmlformats.org/officeDocument/2006/relationships/notesMaster" Target="/ppt/notesMasters/notesMaster1.xml" Id="R31488a8676b8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5b8eca51c453d" /><Relationship Type="http://schemas.openxmlformats.org/officeDocument/2006/relationships/notesMaster" Target="/ppt/notesMasters/notesMaster1.xml" Id="Ra38e495fd73f4b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9b8b9c3bae417d" /><Relationship Type="http://schemas.openxmlformats.org/officeDocument/2006/relationships/notesMaster" Target="/ppt/notesMasters/notesMaster1.xml" Id="R6457bf269d90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fa18189b94517" /><Relationship Type="http://schemas.openxmlformats.org/officeDocument/2006/relationships/notesMaster" Target="/ppt/notesMasters/notesMaster1.xml" Id="Rc974c0b4b0b24b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6bd74dd394ea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73a7759f9c74d4c" /><Relationship Type="http://schemas.openxmlformats.org/officeDocument/2006/relationships/slideLayout" Target="/ppt/slideLayouts/slideLayout2.xml" Id="R7a2869bd009b4c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869bd009b4c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29603f4a54e98" /><Relationship Type="http://schemas.openxmlformats.org/officeDocument/2006/relationships/notesSlide" Target="/ppt/notesSlides/notesSlide1.xml" Id="Rb56cacd79b524b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7e5364c934cd9" /><Relationship Type="http://schemas.openxmlformats.org/officeDocument/2006/relationships/notesSlide" Target="/ppt/notesSlides/notesSlide2.xml" Id="R6b36892ffedc48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af5658b95345c4" /><Relationship Type="http://schemas.openxmlformats.org/officeDocument/2006/relationships/notesSlide" Target="/ppt/notesSlides/notesSlide3.xml" Id="Ref062669dec94a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be7d9aba048dc" /><Relationship Type="http://schemas.openxmlformats.org/officeDocument/2006/relationships/notesSlide" Target="/ppt/notesSlides/notesSlide4.xml" Id="R686f935ea02740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7e611e3bc4c6e" /><Relationship Type="http://schemas.openxmlformats.org/officeDocument/2006/relationships/notesSlide" Target="/ppt/notesSlides/notesSlide5.xml" Id="Rbc19bc54ea6d46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D542DC6-710F-4E35-BC24-D824A905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6AFB96-A7ED-487F-9166-6365489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EACAB8-6A81-4644-8DAE-2262951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01  SAR EXPLORATION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F9972-65F9-4237-BB08-EEC84B8F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38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CONDUCTOR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684B7-0290-481C-B1BA-F8FAB92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676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SAR解析を「一度きりの処理」から</a:t>
            </a:r>
          </a:p>
          <a:p xmlns:a="http://schemas.openxmlformats.org/drawingml/2006/main">
            <a:pPr algn="l">
              <a:defRPr sz="32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継続可能な探索へ。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C13A5-ABF7-46B1-99B7-24F31D47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619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多様な化学表現・局所Group・解析Operatorを組み合わせ、</a:t>
            </a:r>
          </a:p>
          <a:p xmlns:a="http://schemas.openxmlformats.org/drawingml/2006/main">
            <a:pPr algn="l">
              <a:defRPr sz="12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結果を見ながら次の解析branchを積み重ねる。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7549-E1C3-4EF6-A947-EDFAF302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EA401-09DF-44BE-8A76-C21A80C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52575"/>
            <a:ext cx="78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8D710-9FB4-4FF1-BE18-F9BE25E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0BF1F-3E27-4252-A85B-8E02F7E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C34D5-D038-4BC9-B30F-5DBF76A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62325"/>
            <a:ext cx="78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28581-F6B5-4710-8E5E-01AAFD9B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1CD44-FF29-45D0-9797-C8C40F0F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4A7A2-1F60-48B8-83FD-22435DC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95450"/>
            <a:ext cx="142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C84A6-5E03-4D31-AC26-FF484D0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3C09A-1609-4BF6-9113-7E34CDEA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78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83076-D576-4661-986E-856E819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00325"/>
            <a:ext cx="142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3CB08-A48E-4763-B043-2FB6233E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3315C-036D-4128-8139-6AEE269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05200"/>
            <a:ext cx="142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EFF6A-0AFF-42BD-96B1-A2EB0F2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249DC-FA88-40EA-BB70-D25379ED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78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A9EC7-D417-4B4E-8D09-A1C53C3D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EBBD0-28EB-4A84-914D-B964B3B4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4ADF5-8F33-430D-B529-03E9E311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D416F-CD49-43DF-AAC3-58CC11F5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11430">
            <a:solidFill>
              <a:srgbClr val="263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E3425-C0B4-4756-B9CF-B6B05C5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530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STATEFUL DAG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D06A5-DBCE-4782-AFAB-8A046B0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F756C-CD1E-45E6-9BC0-1C07573B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25BA1-D8F2-493A-9972-B1E8F3DF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66066-0F31-44DE-9618-B82FC44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自己完結Skill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336896-74E3-4C42-B986-42FC856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7912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Catalog allowlist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E29304-A90D-4915-A046-823B60CC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7687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DD8A4-EC78-43A0-8879-4307B87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1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F48166-4366-427A-B05E-710B4C3D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91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初手の基本node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C7C6ED-EC37-4F3F-85E6-058AE65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7912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7 Description / 9 Grouping / 36 Operator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F23C3-A24A-447F-87CC-DA4F2AA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36B618-B20B-44CE-A0C1-A9E9CBA7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1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1 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24D3DC-B483-4A12-A6C9-8B47FBD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複数の解析Round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389786-3107-46DA-89F2-1A8807D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7912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StateとEvidenceを累積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D5D984-B2B1-4501-BD32-566E39E6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DDF07D-41C5-4593-819C-8AEBB927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90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Source: CONDUCTOR overview / design spec / catalog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FDD61E-D94B-4E21-9DEF-A4AC2035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98110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F3A0182-A14A-4754-85AD-400A0BDF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7E5763-FEDF-4856-BA49-BE4ECAA6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86F6C70-5758-4853-89EC-BD7380C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02  DESIGN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0F4CA-37C0-4A55-9314-09DD703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機能一覧より、7つの設計要請で捉える。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5F6C6-C5CE-4A9C-9312-C233ADF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847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CONDUCTORは「解析手法の集合」ではなく、探索の進め方を設計したシステム。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9B751-5D81-4F97-9AB1-76E83C23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A7526-9321-43D7-BFE9-EFC21B5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52625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網羅性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1B89F-CBA5-4877-9006-DBCD2C9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95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BE05F-3874-48F3-856F-23E0DA6D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初手から代表的な2D・fingerprint・3D・構造Grouping・Operatorを広く実行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E8690-ED45-409A-B907-FEC174ED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ヒントを逃さない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059D1-F56E-456C-B15C-DE6E38DB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27DE0-D84F-4E91-9714-A9331109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88DA2-1EFC-447B-8D56-1CE1714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多視点性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42DB8-753A-46F7-9CD0-CE829A4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955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44149-14D0-44F5-8B2B-8701DAB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4317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全体／局所、異なるDescription、異なるOperatorの一致・矛盾・negative resultを比較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F3B5E-1A4D-46ED-9DE3-5E111F0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431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一つのモデルに依存しない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CBC1F-EBD1-4286-AFF4-7C9DAE55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746DC-9021-4319-92AF-20B9964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90823-0E07-4F57-BE84-7B16AF5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52775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疎結合性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867B9-5F12-45DE-8D32-EA0CE39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95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79FD3-893E-43F7-BA3A-87BCC76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自己完結Skillと明示的な入出力契約で、手法を追加・交換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A7EC0-FD2A-488D-9E36-9BACBCC3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拡張しやすい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16E4F-C471-47E7-AFD0-48F68FC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8493E-BEF9-43D8-8E9D-3ADA59D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519B3-E507-4D43-9C6E-9C90EF21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状態性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70B43-41A0-457A-A39C-68D7A39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7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E5464-794D-45D0-BEC0-808F7CC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4332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DAG、State、Node ID、Group ID、artifact hashで探索履歴を維持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88F10-EA6F-49CB-8141-7FCB826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4332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再開・監査できる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7AF97-6687-4E12-B4C9-38C3731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306FD-2D64-4E44-9AB7-08BA710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A8121-D258-4A7A-92CC-23422687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52925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探索性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21DED-E788-41EF-B097-8ED97E2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1C4B2-4C3A-40D0-BE67-D8C803B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Evidenceから有望な局所branchを選び、必ず反証候補も探索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4A9AAC-D8F4-4B25-BF5F-6F7D3BDA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自律的に深掘り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A8ABD4-EB4C-4121-864B-4C8CC6AB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AE1A8-28C1-4309-A1FE-7E0E49A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5D83FD-239E-4362-9E05-7B800F8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継続性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7E0547-3B0C-46B3-A169-A05DF1F0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95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42A59-B422-414B-AE04-5D61CF5A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4347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同じrunへ解析Roundを重ね、新しいClaude Codeセッションにも引き継ぐ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CFC4F-4A72-4B01-9FC9-5EDEB03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434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質を段階的に高める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9A4F6F-A6CB-4231-9090-FD7791C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2F27E7-2F42-445B-9871-EA495DE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514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A43818-411C-4357-9536-F34713F8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53075"/>
            <a:ext cx="1190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統治性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42B920-7617-4607-A885-4707A5AB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95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0FFA59-7932-4233-8765-5E1FB56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43550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人間管理Catalog、Policy、予算、並列上限、高コスト承認を適用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00654B-C81B-48B6-B33E-E533FD3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435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自律性を制御する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AE2CA-3158-4CFC-8CD9-19A41240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6682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31F87-FCC6-49AB-83A0-DCC6B74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3525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638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FEATURES → SYSTEM BEHAVIOR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F8C82A-80D2-40D9-8B35-073249E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F2D814-E9E9-4CC2-A68A-77806B6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90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Source: CONDUCTOR overview / policy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CE29A-C637-424A-8C34-62BE2FB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14673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55613B-95B0-459D-B6C0-82A0BE1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35280A-DAE0-4F58-A98D-06E8B1D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849385-D77E-4BB7-B03B-DAC8FE2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03 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95EAC-343A-4147-985C-4F49E7B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独立したSkillを、4つの管理要素が一つの探索へ束ねる。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7893B-A112-42F0-8B2F-F2886E4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CATALOG｜利用可能Skill・入出力・cost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BDF70-8955-4816-8DAE-52ED440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POLICY｜初手・判断原則・承認境界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57D3D-2507-429C-8C95-460C275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7162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HUMAN｜endpoint・予算・優先課題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BABA-275E-4B00-A520-5D536912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A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A603A-B62C-440F-BF75-71416C3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A52FE-B923-4A09-A6DA-CFCC940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1676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ORCHESTRATOR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6ADF3-87DA-4BE9-8275-667360DE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669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DAGを計画し、次branchを選ぶ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FD721-B020-4B60-98E5-834BAEC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247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F5DDC-D19E-48F0-BE8A-3417D1CE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A50F-ED65-450B-94ED-388363C2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924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DESCRIPTION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AE1BC-C818-40F5-B283-86DB6CF2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924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物性・部分構造・fingerprint・3Dで同じ化合物を複数表現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67D55-29CC-4F2E-94D8-5ADD0ED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813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24160-AB65-4B6B-9E5A-0E8BF14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9F770-E3F6-4460-90FE-5EF25AAF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57525"/>
            <a:ext cx="333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9B75C-AB0C-497C-BA80-3B60CDA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2247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E6D30-F4BE-44CD-8D39-A29F67B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7680F-847E-41FC-8283-1FFEE612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924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GROUPING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138CC-D47E-4E58-9D29-10BA5BF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924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構造規則またはDescription空間から、重複可能な局所群を生成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A3B5E-E9FE-4385-8FCC-26907E9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85FCB-F9F4-4848-98D8-D5D580D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A54A2-9D77-4F41-A8D0-9D966F3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57525"/>
            <a:ext cx="333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membership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931B6-E613-4DAD-9DC7-A0C2966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2247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CDE43-A620-4393-ACF2-98E436B6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2CA46-BB12-4C4E-B3F6-7004580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1924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OPERATOR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46386-4041-438B-A461-C105DA7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1924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全体・Group内・Group間で分布、相関、SALI、Cliff等を評価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303A3-E9EF-4996-9760-F363C9EB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813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26435-D0C1-4900-87E7-39CF937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D9A778-B26C-41CD-803A-7493E06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57525"/>
            <a:ext cx="333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B1A66-D7E9-4FF7-8CF6-1B91D38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9B499-7C81-412B-9790-C5FAE46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30B2D0-3537-404A-B741-4C162E65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95600"/>
            <a:ext cx="1676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INTERPRETATION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D489D-977A-41D9-ADCA-4BE5426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一致・矛盾・反証・未解析領域を比較し次の問いを返す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DCF2DA-A117-410A-96BE-D007331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7 node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49D416-CAC6-4049-825E-98C137B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76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9 node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A6A648-2E27-4A0E-9395-EC15B1C7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76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36 node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D60128-455B-4695-AC6E-E727398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767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初手の基本構成 = 52 node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C5B38-EA3F-40C4-8AC9-6B09FA9F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29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BB389-9FEE-4A48-98F2-3D3CE25C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PERSISTENT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B816C4-995E-4CCA-8C9B-DD7E09E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577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node status  ·  dependencies  ·  Group ID  ·  evidence graph  ·  exploration ledger  ·  artifact hash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17864E-3816-4125-8803-3210F76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2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7CCBC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D7CCBC"/>
                </a:solidFill>
                <a:latin typeface="Yu Gothic"/>
                <a:ea typeface="Yu Gothic"/>
                <a:cs typeface="Yu Gothic"/>
              </a:rPr>
              <a:t>Interpretationは新しい下流branchを提案する。既存nodeへ戻る循環は作らず、履歴を保持したままDAGへ追加する。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D4B51F-1812-486B-83D5-5FDD98E1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227965-26A2-4FC0-9A0A-97F2AE4B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90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Source: CONDUCTOR design spec §8–11 / catalog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16D643-4F9C-4A4E-8AA4-C9F25FEA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39454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0355B2-2AB0-4654-8317-56EDE9C6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588C61-40E1-4747-888D-5B3C9E6F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FA07CD-43D2-4E05-B8E8-FC95C794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04  DAG × LOOSE COUPLING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F45C0-4322-4CFE-BBFD-6F670CE0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DAGは図ではない。分岐・再開・監査を可能にする実行機構。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B9FAB-C944-406E-B620-CB2B84D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DAG = Directed Acyclic Graph（有向非巡回グラフ）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12D89-4666-49E6-A04B-44E98E56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DEPENDENCY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C2551-8BD6-4A1E-BD06-5D9396B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20E8F-2C4E-4D66-94FD-FB6D5AEC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4FE71-BA37-447C-B664-D95C780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438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D002  Morgan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3571C-DE20-416B-A614-6BF4691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4382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binary / Tanimoto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5FA9A-FD4E-42ED-A6A6-74879A7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AD4CB-D2C8-4E16-A488-1755193F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7BE51-7BBD-43B3-810B-B336D0A6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438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D013  USRCAT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9455-AF92-4DED-B346-C1FD0C6F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4382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3D / Manhattan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A4E23-8836-4902-A682-559AD1C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5B453-FFAE-4ED2-9DF7-91B9004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6B890-460D-4E61-99E4-3C047F15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438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C002  MCS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D0D4F-C494-45FC-AD18-B5199561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4382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direct 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87376-1E95-435A-9217-0AA5858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C3AC3-DF1A-4806-AE4C-BA3E9B4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479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6C6F3-A999-45FB-AF16-193DE1A0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65BF7-276E-4131-9B08-FFF51E9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5757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E05D4-FD29-4230-B3B9-BA714D5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101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45FCF-0D98-4088-B0FA-2F6128D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672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03CD9-B145-4F42-B829-D94C729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C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AA05A-5AC5-421F-92D0-7F815268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02A10-AB9E-4020-9E2F-44DF9D17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1390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C005  Butina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4AFA8-01AB-4F11-88F8-8FC4F459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1390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Description 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6FDD5-AACF-47D3-BDBB-C89FBA4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C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613BC-5C8A-404D-B27F-CE281EDA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1B3A9-9453-4B3C-BEFA-F19CA82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1390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C006  Hierarchical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01270-ABB6-4563-B8CA-00C57CA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1390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Description 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E07898-1F5F-4D3B-A84F-B0C92F33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CB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021C9-AA44-4F30-8827-02308B3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DA4653-F69B-4AD8-AA37-2D8BA34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1390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GROUP INDEX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11FC8-5F80-48DC-B693-B3B2D1FD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1390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MCS group membership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1B925-A27F-467A-84A2-F2A362C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90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90085-D04D-48C4-B3EA-D696AC0C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D8407C-CD40-40EE-8B85-22909476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004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30E3C-F237-4960-9D2C-2A2E6589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5757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690FD4-26A1-47F5-B842-AAA3FF00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10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CEB05E-5858-44DE-9188-CE4B832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672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CE8AC-C498-4A92-89D7-88BD3D25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7D654E-C47F-40F7-B75A-12BE5745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7698FC-50F1-4CE0-BE3D-20A0F9E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38400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A006  SALI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D6F535-1D02-468E-AA91-A7A4C17E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1295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Morgan × local scope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4AC26C-4CB5-4811-B3E0-23E08B3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9F27FA-6A9A-4237-9D38-5DEB6F9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109233-E11C-41FE-A1A1-6C5D3FFC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A006  SALI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D583C5-A342-484E-A1B2-1C50B91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52850"/>
            <a:ext cx="1295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USRCAT × local scope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C79C60-AE22-4728-884E-FC80662D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CB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94DC49-7AA8-4504-95F9-4CC0A4E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BE8F2-5CFF-4EDD-8D96-85A5ACC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938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A009  Overlap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236D45-F2E8-40F5-A1A2-2CA1F17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1295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5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MCS overlap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A77492-37FA-47EC-B348-C37D690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19375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F53C42-5BC2-45A2-A318-D5D27A85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29025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62E204-8F2F-4E47-9A25-70726C7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38675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96A6A-14D8-460C-BEE5-3437BC30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19375"/>
            <a:ext cx="1905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E5BABD-845F-46AB-8769-C41A525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7519A3-F028-49B7-A6E3-8A23BDD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9567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75D385-0679-4E25-B7C6-948CB031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CB"/>
          </a:solidFill>
          <a:ln xmlns:a="http://schemas.openxmlformats.org/drawingml/2006/main" w="14288">
            <a:solidFill>
              <a:srgbClr val="26343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F7D4F5-D3E5-43C9-B21D-8E214CF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E22DD5-9663-4ADB-BA3C-7D2D2AA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90900"/>
            <a:ext cx="1200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I001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0A8C94-A330-4AF2-ABDF-F7F02EB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957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Evidence比較</a:t>
            </a:r>
          </a:p>
          <a:p xmlns:a="http://schemas.openxmlformats.org/drawingml/2006/main">
            <a:pPr algn="l">
              <a:defRPr sz="713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矛盾・反証候補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022749-AB9D-4FDF-9CC9-7A0CA62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664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依存方向は一方向。新しい解析は下流branchとして追加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56A17B-60AE-4525-A95C-D5D7B22B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43100"/>
            <a:ext cx="19526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DF31BD-36FB-41C2-ABFC-507AD73C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LOOSE</a:t>
            </a:r>
          </a:p>
          <a:p xmlns:a="http://schemas.openxmlformats.org/drawingml/2006/main">
            <a:pPr algn="ctr">
              <a:defRPr sz="1800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COUPLING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873BA2-DB05-4511-89C2-4820A3C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A531F7-949F-41B1-89C3-85D6A5C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908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Skill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7FE1E8-B7E0-49C3-851B-37498137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718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CCBC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7CCB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BB5759-B888-4471-8145-75A7527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33725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Artifact</a:t>
            </a:r>
          </a:p>
          <a:p xmlns:a="http://schemas.openxmlformats.org/drawingml/2006/main">
            <a:pPr algn="ctr">
              <a:defRPr sz="713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713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contract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AF3B8A-CE14-4715-B842-B8BF7BE2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81425"/>
            <a:ext cx="1524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• algorithm単位で自己完結</a:t>
            </a:r>
          </a:p>
          <a:p xmlns:a="http://schemas.openxmlformats.org/drawingml/2006/main">
            <a:pPr algn="l">
              <a:def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• SkillごとのPixi環境</a:t>
            </a:r>
          </a:p>
          <a:p xmlns:a="http://schemas.openxmlformats.org/drawingml/2006/main">
            <a:pPr algn="l">
              <a:def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• 入出力・metric・provenanceを明示</a:t>
            </a:r>
          </a:p>
          <a:p xmlns:a="http://schemas.openxmlformats.org/drawingml/2006/main">
            <a:pPr algn="l">
              <a:def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• 同じ契約なら追加・交換可能</a:t>
            </a:r>
          </a:p>
          <a:p xmlns:a="http://schemas.openxmlformats.org/drawingml/2006/main">
            <a:pPr algn="l">
              <a:def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E8E2D8"/>
                </a:solidFill>
                <a:latin typeface="Yu Gothic"/>
                <a:ea typeface="Yu Gothic"/>
                <a:cs typeface="Yu Gothic"/>
              </a:rPr>
              <a:t>• 一般利用とCONDUCTOR利用を分離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14CD7E-6E4C-462D-B643-8747BA5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9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rPr>
              <a:t>実装を共有せず、</a:t>
            </a:r>
          </a:p>
          <a:p xmlns:a="http://schemas.openxmlformats.org/drawingml/2006/main">
            <a:pPr algn="ctr">
              <a:def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rPr>
              <a:t>契約で接続する。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9ADC23-A4A1-4A4C-8845-937F3B88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66572C-CE78-4DDD-AAB5-FF5E2EB7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90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Source: CONDUCTOR design spec §2, §9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175D8F-34BB-47C3-97CA-04A9FF4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15420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937639B-D4D5-424C-A487-776F5CC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BF9C7F-F3D3-4C15-9BFB-85E6550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AC917AC-8781-4CB5-BE74-3750695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05  ITERATIVE EXPLORATION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347E2-E4BB-4373-8691-C4D8B67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同じrunに解析Roundを重ねるほど、Evidenceの厚みが増す。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3A45C-2D79-460C-8117-3A3FE49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新しいセッションでもStateとhandoffから再開。完了済みanalysis signatureは繰り返さない。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E23EF-139D-4945-BE8B-E5668B11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ROUND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C8CD9-8CE2-41DA-A0AE-3BD7AF1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広くヒントを探す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D0652-F93A-4DCA-9531-AD83AC5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代表表現・MCS・Clustering・全Operator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0621F-A60F-452B-B6E4-DCDC2364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4ADBB-CAC9-403D-9D8E-CC74B0E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CC4C8-032E-41EE-A6B8-A036614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3C04A-2269-4D17-B443-EA617C1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wide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27090-01D9-491A-8FC0-BC31DAF1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432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指示＋追加予算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3561C-9E28-49D6-B31C-8113BB2A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57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E8053-BAF7-4EE6-8087-302E302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147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20EB7-F2C4-4930-BC81-6AF7EE4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ROUND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8DE3B-2317-488A-9C79-882E81FD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局所へ切り出す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79F6-0D05-4AA9-9A98-799125B1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有望Group、Cliff、例外を深掘り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D59BD-F35F-41F9-B2B2-4DA30BA0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C64EC-55D4-4094-B33E-73D365C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9577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763EB-3291-498E-91E0-21991A95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62425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60AAB-328C-48AF-A088-F031B46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29075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FF37F-0810-4D31-AFF9-FF127BD9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95725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B0B32-419B-48EE-AD32-5337F4B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20229-E747-4820-8CB7-7ACFE391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432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指示＋追加予算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270D7-55C3-4EBE-87AE-4E52A48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57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9526D-BFA3-44DC-AA5F-C93CE3DD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147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8F179-58B7-44E1-A61B-7EF385B2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57B78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557B78"/>
                </a:solidFill>
                <a:latin typeface="Yu Gothic"/>
                <a:ea typeface="Yu Gothic"/>
                <a:cs typeface="Yu Gothic"/>
              </a:rPr>
              <a:t>ROUND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B3AAB-1280-427C-8E36-AA8D938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反証して比べる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42F5F-3990-407B-A174-6D1FE25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独立表現、matched control、矛盾を検討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3C49F-F2A1-4C23-96CC-A16E576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29125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14012-6B54-40B7-AE20-918B978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9577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76DCC-183B-4B3E-8437-BDCD4AAF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62425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15937-89EE-4EA2-8045-53DEB48A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EF0279-5AE4-437D-A58F-B08129A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95725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F7E0B-16DC-4A4E-AA33-E73B00B0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55431A-7088-48DB-9B2D-552B366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29025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2C5A90-54C5-4FAB-95C1-D54E4EDE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67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CBB38F-0994-4B9D-A27D-F0658D9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432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指示＋追加予算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343290-CE51-4B4C-97AD-277EC76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5470B7-696E-404E-A4A1-E9B061D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1472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BCB7B1-321A-4483-9BED-E8F9D87D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ROUND 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485ADC-6677-4DED-9F83-5B42F626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未解析領域を詰める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81AB98-2DC6-46C9-A68A-892E1FC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信頼度を比較し、人間判断へ渡す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897E75-FDCF-42DA-9A56-3F4713E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A9DC13-B9F2-405A-B854-B5437B0E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9577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C9C318-7041-473F-9F6C-D87B1D7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62425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05E105-0279-450F-8293-250B054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29075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162715-88DC-446D-96E0-FF4711F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95725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A05788-29A2-46CC-9E9D-1EEBD43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7E8747-A211-448C-ADAF-1672469C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00F71A-BCD3-4727-BB43-76B44C9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95675"/>
            <a:ext cx="1581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D4C89F-895E-4345-AE02-361A32F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21F694-0940-476D-8A22-97B640D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confidence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B58AA3-F945-480F-9C94-CD8CD83D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29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9AEA74-E2E4-47CA-BF30-47BA54F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BFAF7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FBFAF7"/>
                </a:solidFill>
                <a:latin typeface="Yu Gothic"/>
                <a:ea typeface="Yu Gothic"/>
                <a:cs typeface="Yu Gothic"/>
              </a:rPr>
              <a:t>PERSISTENT RUN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B10F64-7150-459B-88FA-5A303597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rPr>
              <a:t>state.json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D061CD-0032-4996-9AAD-760AF7B6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38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rPr>
              <a:t>Group index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4D71D8-EE86-41F8-9ECF-8327B2C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rPr>
              <a:t>Evidence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E9870C-1DBC-4765-B925-A708F152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387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E7D6CB"/>
                </a:solidFill>
                <a:latin typeface="Yu Gothic"/>
                <a:ea typeface="Yu Gothic"/>
                <a:cs typeface="Yu Gothic"/>
              </a:rPr>
              <a:t>Interpretation history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7FE06B-B9F0-451F-B032-4A24AB82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D6E0DC"/>
                </a:solidFill>
                <a:latin typeface="Yu Gothic"/>
                <a:ea typeface="Yu Gothic"/>
                <a:cs typeface="Yu Gothic"/>
              </a:rPr>
              <a:t>session_handoff.md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DA5D3F-9944-488B-B3CE-203ADDEE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1029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00ECBD-5F6B-4CE1-98CD-1515157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654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A76543"/>
                </a:solidFill>
                <a:latin typeface="Yu Gothic"/>
                <a:ea typeface="Yu Gothic"/>
                <a:cs typeface="Yu Gothic"/>
              </a:rPr>
              <a:t>一言で言えば：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63D507-8C45-4352-8385-D81A376C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53125"/>
            <a:ext cx="942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26343A"/>
                </a:solidFill>
                <a:latin typeface="Yu Gothic"/>
                <a:ea typeface="Yu Gothic"/>
                <a:cs typeface="Yu Gothic"/>
              </a:rPr>
              <a:t>多様な専門SkillをDAGで束ね、広域探索と局所深掘りを反復しながら、SARの見落とし・矛盾・CliffをEvidenceとして蓄積する解析システム。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213FF8-DFC5-4D89-9487-A7EC1A7D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783502-3F01-4A49-BFB9-8AC867F1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90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Source: CONDUCTOR policy / State and session handoff design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A24538-D51F-40D5-A8A0-AC2FA7C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64747A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2020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2026-08-05T23:16:39.2630000Z</dcterms:created>
  <dcterms:modified xsi:type="dcterms:W3CDTF">2026-08-05T23:16:39.2630000Z</dcterms:modified>
</coreProperties>
</file>