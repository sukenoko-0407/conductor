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C86C86-81B3-1253-00B9-476CD0DB29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0EB95C2-579C-8CB1-AA50-D50EFC10CD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967029-AE96-1F58-6325-8D5E1B34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A99A-4322-458A-8880-0DA1FAB62D0A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3BA051-C30C-A836-43BE-D6677FB0B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D52315-755A-5019-0DB2-CA2751229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1B03-01A0-47FD-AEAE-50758DBCFF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0857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3F3B7C-41FE-BCE9-3CE8-199857A17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A3CCFB-01B6-7E32-39F0-73813A4B0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FAA2AD-11C8-1681-D6A4-A4DF2105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A99A-4322-458A-8880-0DA1FAB62D0A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E4020F-170C-5462-C602-CD97BD432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9B5096-F93C-1CCE-B6CB-969355376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1B03-01A0-47FD-AEAE-50758DBCFF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7603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B86253-36E0-F713-6BBF-2C97919CD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10A445B-7B51-0404-4C49-A902BD7B0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875959-86C8-E38B-205C-69ABBF403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A99A-4322-458A-8880-0DA1FAB62D0A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0A1545-91D4-480A-BC1A-191F563B6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2D7C43-6B1C-0915-8DA9-1248B9B25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1B03-01A0-47FD-AEAE-50758DBCFF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9568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8D964D-606C-06E3-957E-A96CCC0BF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3A3723-F865-288D-E5B4-F599258DB8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8132BFA-8CAC-959B-8364-A44DDE2A4D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BA1B718-3470-55A2-A6EB-5B4DEDE91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A99A-4322-458A-8880-0DA1FAB62D0A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BDE5A10-60EC-C7B5-0D56-FA057BA7A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178301C-C858-4BE8-357C-61DAA4A3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1B03-01A0-47FD-AEAE-50758DBCFF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0955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9AAF97-331B-BB80-9191-DC5E4335F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50988E5-E754-7515-2815-825A6D5A8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F83F672-1BDA-BD7E-7BCF-CF7FB4948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EBDBCBB-54F5-60BF-DF12-5BC07431C9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7DFD8DC-69B7-3640-1001-5880FABF52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8A20E10-080A-956B-56AF-AC8F23569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A99A-4322-458A-8880-0DA1FAB62D0A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00AA16F-66C8-DECD-F632-0458A4C1D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6F599C2-9B1F-5BE4-3D4A-9B4B4C970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1B03-01A0-47FD-AEAE-50758DBCFF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727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067344-3B76-CC0A-8377-ADF2BEC9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9B2C1F7-678A-5F18-65D6-F99B55C9A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A99A-4322-458A-8880-0DA1FAB62D0A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59C526B-CDEE-D5E0-57CA-42D611839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88D0D1A-B446-2964-AE5D-8C1A2EFF7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1B03-01A0-47FD-AEAE-50758DBCFF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7783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767CDFE-82A9-C279-0901-BB1958450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A99A-4322-458A-8880-0DA1FAB62D0A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9693E1C-0C9D-1877-3C47-E321D868C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D0E3C37-E8D5-B3E5-6A91-E1C5DD142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1B03-01A0-47FD-AEAE-50758DBCFF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4803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0F24DB-E749-909E-008C-91884063A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BA618D-5B6D-A7F9-C22B-0886A2EBF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12B02F7-27C0-2136-3576-2C41051EBE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3609FDB-324B-2870-FCEF-41D92D6CF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A99A-4322-458A-8880-0DA1FAB62D0A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E95395D-864F-E409-684D-A3187D9FB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B732910-5B22-4DDF-3F0C-AFC2AD9DB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1B03-01A0-47FD-AEAE-50758DBCFF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6689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981159-FC90-E0F9-6734-3BCB90E1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33BD9D0-37A3-2330-6CE2-397B20B9F0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DBCD528-570B-6F67-0867-BDA6FABDA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C7EFD8C-7480-94BB-F056-14DC47C32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A99A-4322-458A-8880-0DA1FAB62D0A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86124B9-C776-8827-6BFF-AA785576A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4D8F2B8-D505-ED9C-2C84-092B966A3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1B03-01A0-47FD-AEAE-50758DBCFF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0248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55CC27-41E5-D487-A48D-121D32951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0599219-87B9-A81B-1370-5EB8CB412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847F40-84EB-2C37-A2FC-0E3DCCE00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A99A-4322-458A-8880-0DA1FAB62D0A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A9CFCC-3414-09F6-FEE3-BA8EFBC5E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A6ED0E-928F-B457-CFEE-2E8539CA1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1B03-01A0-47FD-AEAE-50758DBCFF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1158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AEBE234-E169-1D2E-BF49-16A0D24BC7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6DD871-72A5-D85A-D293-BA4F427EC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CBF1F5-0A6C-AE77-BE69-825D4C98E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CA99A-4322-458A-8880-0DA1FAB62D0A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822681-5B98-7AB5-FF27-93A662AB4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D09C9A-0B5A-0478-D0D8-9EC266231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31B03-01A0-47FD-AEAE-50758DBCFF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70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927EFFC-0913-21B0-75B6-FD4018F15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C5CF4F6-70B9-AD77-5093-3DB2FC6A6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ED44AB-1073-8A85-75E8-2CBA2025CE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BCA99A-4322-458A-8880-0DA1FAB62D0A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AFD959-2CD7-2FF0-541B-EFB84F92EE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49876A-1488-C578-9CB4-7D938F746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031B03-01A0-47FD-AEAE-50758DBCFF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5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6C79524-F335-4A95-3C7F-B5BE24D4A6FB}"/>
              </a:ext>
            </a:extLst>
          </p:cNvPr>
          <p:cNvSpPr txBox="1"/>
          <p:nvPr/>
        </p:nvSpPr>
        <p:spPr>
          <a:xfrm>
            <a:off x="533400" y="2794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1F9DB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01 / 08</a:t>
            </a:r>
            <a:endParaRPr kumimoji="1" lang="ja-JP" altLang="en-US" sz="1100" b="1">
              <a:solidFill>
                <a:srgbClr val="1F9DB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4C0D0CE-68F2-AC45-3FD0-782F395C53F6}"/>
              </a:ext>
            </a:extLst>
          </p:cNvPr>
          <p:cNvSpPr txBox="1"/>
          <p:nvPr/>
        </p:nvSpPr>
        <p:spPr>
          <a:xfrm>
            <a:off x="533400" y="596900"/>
            <a:ext cx="11049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複雑な</a:t>
            </a:r>
            <a:r>
              <a:rPr kumimoji="1" lang="en-US" altLang="ja-JP" sz="28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SAR</a:t>
            </a:r>
            <a:r>
              <a:rPr kumimoji="1" lang="ja-JP" altLang="en-US" sz="28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を「検証可能な知見」へ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51E3B31-9E1A-A1BA-8FE6-85DCE342E5E7}"/>
              </a:ext>
            </a:extLst>
          </p:cNvPr>
          <p:cNvSpPr txBox="1"/>
          <p:nvPr/>
        </p:nvSpPr>
        <p:spPr>
          <a:xfrm>
            <a:off x="558800" y="11938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全体平均では見えない条件依存構造を、網羅探索・統計・反証・引用で絞り込む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3172444-4413-5778-7266-9B837DD0A527}"/>
              </a:ext>
            </a:extLst>
          </p:cNvPr>
          <p:cNvCxnSpPr/>
          <p:nvPr/>
        </p:nvCxnSpPr>
        <p:spPr>
          <a:xfrm>
            <a:off x="533400" y="1625600"/>
            <a:ext cx="11125200" cy="0"/>
          </a:xfrm>
          <a:prstGeom prst="line">
            <a:avLst/>
          </a:prstGeom>
          <a:ln w="15875">
            <a:solidFill>
              <a:srgbClr val="CF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8B18238C-A56C-C874-1CC5-598B196605D7}"/>
              </a:ext>
            </a:extLst>
          </p:cNvPr>
          <p:cNvSpPr/>
          <p:nvPr/>
        </p:nvSpPr>
        <p:spPr>
          <a:xfrm>
            <a:off x="533400" y="2006600"/>
            <a:ext cx="3429000" cy="3429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A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41346B5-E91F-1F6A-0C40-DA7F76C93AFC}"/>
              </a:ext>
            </a:extLst>
          </p:cNvPr>
          <p:cNvSpPr txBox="1"/>
          <p:nvPr/>
        </p:nvSpPr>
        <p:spPr>
          <a:xfrm>
            <a:off x="787400" y="22479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C6374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従来の詰まりどころ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3632142-7459-0D2F-623C-FFEFEC19E506}"/>
              </a:ext>
            </a:extLst>
          </p:cNvPr>
          <p:cNvSpPr txBox="1"/>
          <p:nvPr/>
        </p:nvSpPr>
        <p:spPr>
          <a:xfrm>
            <a:off x="812800" y="2806700"/>
            <a:ext cx="2794000" cy="16158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5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</a:t>
            </a:r>
            <a:r>
              <a:rPr kumimoji="1" lang="ja-JP" altLang="en-US" sz="15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特徴量と条件の組合せが広すぎる</a:t>
            </a:r>
          </a:p>
          <a:p>
            <a:r>
              <a:rPr kumimoji="1" lang="en-US" altLang="ja-JP" sz="15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</a:t>
            </a:r>
            <a:r>
              <a:rPr kumimoji="1" lang="ja-JP" altLang="en-US" sz="15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全体傾向が局所</a:t>
            </a:r>
            <a:r>
              <a:rPr kumimoji="1" lang="en-US" altLang="ja-JP" sz="15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SAR</a:t>
            </a:r>
            <a:r>
              <a:rPr kumimoji="1" lang="ja-JP" altLang="en-US" sz="15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を隠す</a:t>
            </a:r>
          </a:p>
          <a:p>
            <a:r>
              <a:rPr kumimoji="1" lang="en-US" altLang="ja-JP" sz="15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p</a:t>
            </a:r>
            <a:r>
              <a:rPr kumimoji="1" lang="ja-JP" altLang="en-US" sz="15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値一覧だけでは次の実験に繋がらない</a:t>
            </a:r>
          </a:p>
          <a:p>
            <a:r>
              <a:rPr kumimoji="1" lang="en-US" altLang="ja-JP" sz="15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LLM</a:t>
            </a:r>
            <a:r>
              <a:rPr kumimoji="1" lang="ja-JP" altLang="en-US" sz="15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だけでは再現性・監査性が不足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CCF55399-3EF0-ECAA-328A-0D01E1E9B87A}"/>
              </a:ext>
            </a:extLst>
          </p:cNvPr>
          <p:cNvSpPr/>
          <p:nvPr/>
        </p:nvSpPr>
        <p:spPr>
          <a:xfrm>
            <a:off x="5016500" y="2413000"/>
            <a:ext cx="863600" cy="863600"/>
          </a:xfrm>
          <a:prstGeom prst="ellipse">
            <a:avLst/>
          </a:prstGeom>
          <a:solidFill>
            <a:srgbClr val="1C6F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1960ED6-0644-A913-ED91-DA5E15343437}"/>
              </a:ext>
            </a:extLst>
          </p:cNvPr>
          <p:cNvSpPr txBox="1"/>
          <p:nvPr/>
        </p:nvSpPr>
        <p:spPr>
          <a:xfrm>
            <a:off x="5016500" y="3327400"/>
            <a:ext cx="863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0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構造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6D618B7B-CBB4-7FD9-161A-F562F47F8E23}"/>
              </a:ext>
            </a:extLst>
          </p:cNvPr>
          <p:cNvSpPr/>
          <p:nvPr/>
        </p:nvSpPr>
        <p:spPr>
          <a:xfrm>
            <a:off x="6413500" y="2413000"/>
            <a:ext cx="863600" cy="863600"/>
          </a:xfrm>
          <a:prstGeom prst="ellipse">
            <a:avLst/>
          </a:prstGeom>
          <a:solidFill>
            <a:srgbClr val="1F9D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9062755-0BE6-2BC1-00B2-20843CA54A09}"/>
              </a:ext>
            </a:extLst>
          </p:cNvPr>
          <p:cNvSpPr txBox="1"/>
          <p:nvPr/>
        </p:nvSpPr>
        <p:spPr>
          <a:xfrm>
            <a:off x="6413500" y="3327400"/>
            <a:ext cx="863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0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条件</a:t>
            </a: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1C91217A-99A1-AF60-BED6-A4EB7A6937A7}"/>
              </a:ext>
            </a:extLst>
          </p:cNvPr>
          <p:cNvSpPr/>
          <p:nvPr/>
        </p:nvSpPr>
        <p:spPr>
          <a:xfrm>
            <a:off x="7810500" y="2413000"/>
            <a:ext cx="863600" cy="863600"/>
          </a:xfrm>
          <a:prstGeom prst="ellipse">
            <a:avLst/>
          </a:prstGeom>
          <a:solidFill>
            <a:srgbClr val="E984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F742C72-EFB7-B8A6-DA52-039EF2FD152E}"/>
              </a:ext>
            </a:extLst>
          </p:cNvPr>
          <p:cNvSpPr txBox="1"/>
          <p:nvPr/>
        </p:nvSpPr>
        <p:spPr>
          <a:xfrm>
            <a:off x="7810500" y="3327400"/>
            <a:ext cx="863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0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反証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CFE39E55-4861-C0A0-2F23-022EE3E51640}"/>
              </a:ext>
            </a:extLst>
          </p:cNvPr>
          <p:cNvCxnSpPr/>
          <p:nvPr/>
        </p:nvCxnSpPr>
        <p:spPr>
          <a:xfrm>
            <a:off x="5880100" y="2844800"/>
            <a:ext cx="469900" cy="0"/>
          </a:xfrm>
          <a:prstGeom prst="line">
            <a:avLst/>
          </a:prstGeom>
          <a:ln w="31750">
            <a:solidFill>
              <a:srgbClr val="56667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834562F7-8F21-AF6C-9226-349325491D67}"/>
              </a:ext>
            </a:extLst>
          </p:cNvPr>
          <p:cNvCxnSpPr/>
          <p:nvPr/>
        </p:nvCxnSpPr>
        <p:spPr>
          <a:xfrm>
            <a:off x="7277100" y="2844800"/>
            <a:ext cx="469900" cy="0"/>
          </a:xfrm>
          <a:prstGeom prst="line">
            <a:avLst/>
          </a:prstGeom>
          <a:ln w="31750">
            <a:solidFill>
              <a:srgbClr val="56667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FA848DD0-A198-FB38-6909-41793DAFE952}"/>
              </a:ext>
            </a:extLst>
          </p:cNvPr>
          <p:cNvCxnSpPr/>
          <p:nvPr/>
        </p:nvCxnSpPr>
        <p:spPr>
          <a:xfrm>
            <a:off x="8674100" y="2844800"/>
            <a:ext cx="660400" cy="0"/>
          </a:xfrm>
          <a:prstGeom prst="line">
            <a:avLst/>
          </a:prstGeom>
          <a:ln w="31750">
            <a:solidFill>
              <a:srgbClr val="20975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AEB62619-2465-B26B-0BD5-CD42869B0FDD}"/>
              </a:ext>
            </a:extLst>
          </p:cNvPr>
          <p:cNvSpPr/>
          <p:nvPr/>
        </p:nvSpPr>
        <p:spPr>
          <a:xfrm>
            <a:off x="9499600" y="2133600"/>
            <a:ext cx="2159000" cy="2413000"/>
          </a:xfrm>
          <a:prstGeom prst="roundRect">
            <a:avLst/>
          </a:prstGeom>
          <a:solidFill>
            <a:srgbClr val="E6F6ED"/>
          </a:solidFill>
          <a:ln w="15875">
            <a:solidFill>
              <a:srgbClr val="2097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475CCD3-38EB-6F8A-3CE7-61753503C0C0}"/>
              </a:ext>
            </a:extLst>
          </p:cNvPr>
          <p:cNvSpPr txBox="1"/>
          <p:nvPr/>
        </p:nvSpPr>
        <p:spPr>
          <a:xfrm>
            <a:off x="9779000" y="2413000"/>
            <a:ext cx="16002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2000" b="1">
                <a:solidFill>
                  <a:srgbClr val="20975E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Finding</a:t>
            </a:r>
            <a:endParaRPr kumimoji="1" lang="ja-JP" altLang="en-US" sz="2000" b="1">
              <a:solidFill>
                <a:srgbClr val="20975E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36376E6-F636-3E8C-9BD1-C38F443105EA}"/>
              </a:ext>
            </a:extLst>
          </p:cNvPr>
          <p:cNvSpPr txBox="1"/>
          <p:nvPr/>
        </p:nvSpPr>
        <p:spPr>
          <a:xfrm>
            <a:off x="9728200" y="2921000"/>
            <a:ext cx="1701800" cy="10772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4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claim</a:t>
            </a:r>
          </a:p>
          <a:p>
            <a:pPr algn="ctr"/>
            <a:r>
              <a:rPr kumimoji="1" lang="ja-JP" altLang="en-US" sz="14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効果・</a:t>
            </a:r>
            <a:r>
              <a:rPr kumimoji="1" lang="en-US" altLang="ja-JP" sz="14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support</a:t>
            </a:r>
          </a:p>
          <a:p>
            <a:pPr algn="ctr"/>
            <a:r>
              <a:rPr kumimoji="1" lang="en-US" altLang="ja-JP" sz="14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p/q</a:t>
            </a:r>
            <a:r>
              <a:rPr kumimoji="1" lang="ja-JP" altLang="en-US" sz="14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</a:t>
            </a:r>
            <a:r>
              <a:rPr kumimoji="1" lang="en-US" altLang="ja-JP" sz="14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score</a:t>
            </a:r>
          </a:p>
          <a:p>
            <a:pPr algn="ctr"/>
            <a:r>
              <a:rPr kumimoji="1" lang="ja-JP" altLang="en-US" sz="14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反証状態</a:t>
            </a:r>
          </a:p>
          <a:p>
            <a:pPr algn="ctr"/>
            <a:r>
              <a:rPr kumimoji="1" lang="ja-JP" altLang="en-US" sz="14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引用</a:t>
            </a:r>
            <a:r>
              <a:rPr kumimoji="1" lang="en-US" altLang="ja-JP" sz="14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Evidence</a:t>
            </a:r>
            <a:endParaRPr kumimoji="1" lang="ja-JP" altLang="en-US" sz="1400">
              <a:solidFill>
                <a:srgbClr val="1C263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87EE3FE9-4511-B7B9-AFDE-BE4ACD1A343F}"/>
              </a:ext>
            </a:extLst>
          </p:cNvPr>
          <p:cNvSpPr/>
          <p:nvPr/>
        </p:nvSpPr>
        <p:spPr>
          <a:xfrm>
            <a:off x="4343400" y="4953000"/>
            <a:ext cx="7315200" cy="990600"/>
          </a:xfrm>
          <a:prstGeom prst="roundRect">
            <a:avLst/>
          </a:prstGeom>
          <a:solidFill>
            <a:srgbClr val="0D2750"/>
          </a:solidFill>
          <a:ln w="15875">
            <a:solidFill>
              <a:srgbClr val="0D27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391EFEA-C07F-AAA3-652B-349DAF0D4CE5}"/>
              </a:ext>
            </a:extLst>
          </p:cNvPr>
          <p:cNvSpPr txBox="1"/>
          <p:nvPr/>
        </p:nvSpPr>
        <p:spPr>
          <a:xfrm>
            <a:off x="4635500" y="5168900"/>
            <a:ext cx="6731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9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人間が読める</a:t>
            </a:r>
            <a:r>
              <a:rPr kumimoji="1" lang="en-US" altLang="ja-JP" sz="19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HTML  ×  </a:t>
            </a:r>
            <a:r>
              <a:rPr kumimoji="1" lang="ja-JP" altLang="en-US" sz="19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機械監査できる</a:t>
            </a:r>
            <a:r>
              <a:rPr kumimoji="1" lang="en-US" altLang="ja-JP" sz="19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JSON/manifest</a:t>
            </a:r>
            <a:endParaRPr kumimoji="1" lang="ja-JP" altLang="en-US" sz="19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A8274E2-850D-9729-EAB3-1181C9232B6E}"/>
              </a:ext>
            </a:extLst>
          </p:cNvPr>
          <p:cNvSpPr txBox="1"/>
          <p:nvPr/>
        </p:nvSpPr>
        <p:spPr>
          <a:xfrm>
            <a:off x="533400" y="65532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8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CONDUCTOR 0.2.1  |  2026-09-29</a:t>
            </a:r>
            <a:endParaRPr kumimoji="1" lang="ja-JP" altLang="en-US" sz="800">
              <a:solidFill>
                <a:srgbClr val="566675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5BB0A09-772C-C949-C677-411DCE8D05CE}"/>
              </a:ext>
            </a:extLst>
          </p:cNvPr>
          <p:cNvSpPr txBox="1"/>
          <p:nvPr/>
        </p:nvSpPr>
        <p:spPr>
          <a:xfrm>
            <a:off x="11176000" y="65532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8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endParaRPr kumimoji="1" lang="ja-JP" altLang="en-US" sz="800">
              <a:solidFill>
                <a:srgbClr val="566675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29494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E070ABC-4AC1-D7D7-FC7F-42E88BCD3925}"/>
              </a:ext>
            </a:extLst>
          </p:cNvPr>
          <p:cNvSpPr txBox="1"/>
          <p:nvPr/>
        </p:nvSpPr>
        <p:spPr>
          <a:xfrm>
            <a:off x="533400" y="2794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1F9DB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02 / 08</a:t>
            </a:r>
            <a:endParaRPr kumimoji="1" lang="ja-JP" altLang="en-US" sz="1100" b="1">
              <a:solidFill>
                <a:srgbClr val="1F9DB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F24CED6-0A2E-3A41-6CB6-6453F13E5F4A}"/>
              </a:ext>
            </a:extLst>
          </p:cNvPr>
          <p:cNvSpPr txBox="1"/>
          <p:nvPr/>
        </p:nvSpPr>
        <p:spPr>
          <a:xfrm>
            <a:off x="533400" y="596900"/>
            <a:ext cx="11049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28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Phase 1</a:t>
            </a:r>
            <a:r>
              <a:rPr kumimoji="1" lang="ja-JP" altLang="en-US" sz="28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～</a:t>
            </a:r>
            <a:r>
              <a:rPr kumimoji="1" lang="en-US" altLang="ja-JP" sz="28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6</a:t>
            </a:r>
            <a:r>
              <a:rPr kumimoji="1" lang="ja-JP" altLang="en-US" sz="28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：発見から受入まで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CEF5B26-2EDD-30B2-3FB7-5F97555D4DCE}"/>
              </a:ext>
            </a:extLst>
          </p:cNvPr>
          <p:cNvSpPr txBox="1"/>
          <p:nvPr/>
        </p:nvSpPr>
        <p:spPr>
          <a:xfrm>
            <a:off x="558800" y="11938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数値解析は</a:t>
            </a:r>
            <a:r>
              <a:rPr kumimoji="1" lang="en-US" altLang="ja-JP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Ubuntu CPU</a:t>
            </a:r>
            <a:r>
              <a:rPr kumimoji="1" lang="ja-JP" altLang="en-US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、</a:t>
            </a:r>
            <a:r>
              <a:rPr kumimoji="1" lang="en-US" altLang="ja-JP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Local LLM</a:t>
            </a:r>
            <a:r>
              <a:rPr kumimoji="1" lang="ja-JP" altLang="en-US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は限定的な選択と文章化だけ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C435F421-EA45-2140-C2F9-1575CB6437B9}"/>
              </a:ext>
            </a:extLst>
          </p:cNvPr>
          <p:cNvCxnSpPr/>
          <p:nvPr/>
        </p:nvCxnSpPr>
        <p:spPr>
          <a:xfrm>
            <a:off x="533400" y="1625600"/>
            <a:ext cx="11125200" cy="0"/>
          </a:xfrm>
          <a:prstGeom prst="line">
            <a:avLst/>
          </a:prstGeom>
          <a:ln w="15875">
            <a:solidFill>
              <a:srgbClr val="CF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図 6">
            <a:extLst>
              <a:ext uri="{FF2B5EF4-FFF2-40B4-BE49-F238E27FC236}">
                <a16:creationId xmlns:a16="http://schemas.microsoft.com/office/drawing/2014/main" id="{29A86C54-B398-188E-0A81-9BA5E863EFC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841500"/>
            <a:ext cx="11125200" cy="443230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5A4436D-5B26-39B0-53B3-148C7245ADA5}"/>
              </a:ext>
            </a:extLst>
          </p:cNvPr>
          <p:cNvSpPr txBox="1"/>
          <p:nvPr/>
        </p:nvSpPr>
        <p:spPr>
          <a:xfrm>
            <a:off x="533400" y="65532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8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CONDUCTOR 0.2.1  |  2026-09-29</a:t>
            </a:r>
            <a:endParaRPr kumimoji="1" lang="ja-JP" altLang="en-US" sz="800">
              <a:solidFill>
                <a:srgbClr val="566675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FFC2989-C6B1-FF1C-9ECC-F98B40CFDD5D}"/>
              </a:ext>
            </a:extLst>
          </p:cNvPr>
          <p:cNvSpPr txBox="1"/>
          <p:nvPr/>
        </p:nvSpPr>
        <p:spPr>
          <a:xfrm>
            <a:off x="11176000" y="65532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8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endParaRPr kumimoji="1" lang="ja-JP" altLang="en-US" sz="800">
              <a:solidFill>
                <a:srgbClr val="566675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42147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246D491-B6C8-E193-1AD3-C15B9B6B7040}"/>
              </a:ext>
            </a:extLst>
          </p:cNvPr>
          <p:cNvSpPr txBox="1"/>
          <p:nvPr/>
        </p:nvSpPr>
        <p:spPr>
          <a:xfrm>
            <a:off x="533400" y="2794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1F9DB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03 / 08</a:t>
            </a:r>
            <a:endParaRPr kumimoji="1" lang="ja-JP" altLang="en-US" sz="1100" b="1">
              <a:solidFill>
                <a:srgbClr val="1F9DB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63EE056-67B4-342F-4005-5B0121197488}"/>
              </a:ext>
            </a:extLst>
          </p:cNvPr>
          <p:cNvSpPr txBox="1"/>
          <p:nvPr/>
        </p:nvSpPr>
        <p:spPr>
          <a:xfrm>
            <a:off x="533400" y="596900"/>
            <a:ext cx="11049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構造資産を再利用し、</a:t>
            </a:r>
            <a:r>
              <a:rPr kumimoji="1" lang="en-US" altLang="ja-JP" sz="28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Endpoint</a:t>
            </a:r>
            <a:r>
              <a:rPr kumimoji="1" lang="ja-JP" altLang="en-US" sz="28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解析は独立させる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E358C85-CA50-CDE4-7663-9C19B7C35AC8}"/>
              </a:ext>
            </a:extLst>
          </p:cNvPr>
          <p:cNvSpPr txBox="1"/>
          <p:nvPr/>
        </p:nvSpPr>
        <p:spPr>
          <a:xfrm>
            <a:off x="558800" y="11938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Description Database</a:t>
            </a:r>
            <a:r>
              <a:rPr kumimoji="1" lang="ja-JP" altLang="en-US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は</a:t>
            </a:r>
            <a:r>
              <a:rPr kumimoji="1" lang="en-US" altLang="ja-JP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Program</a:t>
            </a:r>
            <a:r>
              <a:rPr kumimoji="1" lang="ja-JP" altLang="en-US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単位。互換性が一致する</a:t>
            </a:r>
            <a:r>
              <a:rPr kumimoji="1" lang="en-US" altLang="ja-JP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record</a:t>
            </a:r>
            <a:r>
              <a:rPr kumimoji="1" lang="ja-JP" altLang="en-US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だけを</a:t>
            </a:r>
            <a:r>
              <a:rPr kumimoji="1" lang="en-US" altLang="ja-JP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cache hit</a:t>
            </a:r>
            <a:r>
              <a:rPr kumimoji="1" lang="ja-JP" altLang="en-US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にする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2F26110B-7E26-34DC-F91D-FB9A17759A83}"/>
              </a:ext>
            </a:extLst>
          </p:cNvPr>
          <p:cNvCxnSpPr/>
          <p:nvPr/>
        </p:nvCxnSpPr>
        <p:spPr>
          <a:xfrm>
            <a:off x="533400" y="1625600"/>
            <a:ext cx="11125200" cy="0"/>
          </a:xfrm>
          <a:prstGeom prst="line">
            <a:avLst/>
          </a:prstGeom>
          <a:ln w="15875">
            <a:solidFill>
              <a:srgbClr val="CF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C49A5C3F-3139-F532-EDD7-2EE0B37109D8}"/>
              </a:ext>
            </a:extLst>
          </p:cNvPr>
          <p:cNvSpPr/>
          <p:nvPr/>
        </p:nvSpPr>
        <p:spPr>
          <a:xfrm>
            <a:off x="533400" y="1968500"/>
            <a:ext cx="3111500" cy="3937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A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F6087B1-42EC-E4A8-ED3D-7A93E28034F0}"/>
              </a:ext>
            </a:extLst>
          </p:cNvPr>
          <p:cNvSpPr txBox="1"/>
          <p:nvPr/>
        </p:nvSpPr>
        <p:spPr>
          <a:xfrm>
            <a:off x="787400" y="22352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入力と</a:t>
            </a:r>
            <a:r>
              <a:rPr kumimoji="1" lang="en-US" altLang="ja-JP" sz="17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identity</a:t>
            </a:r>
            <a:endParaRPr kumimoji="1" lang="ja-JP" altLang="en-US" sz="1700" b="1">
              <a:solidFill>
                <a:srgbClr val="0D2750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19C1231-631C-64C3-441E-C51CFD1FD54C}"/>
              </a:ext>
            </a:extLst>
          </p:cNvPr>
          <p:cNvSpPr txBox="1"/>
          <p:nvPr/>
        </p:nvSpPr>
        <p:spPr>
          <a:xfrm>
            <a:off x="787400" y="2743200"/>
            <a:ext cx="26035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5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compound ID</a:t>
            </a:r>
          </a:p>
          <a:p>
            <a:r>
              <a:rPr kumimoji="1" lang="en-US" altLang="ja-JP" sz="15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canonical SMILES</a:t>
            </a:r>
          </a:p>
          <a:p>
            <a:r>
              <a:rPr kumimoji="1" lang="en-US" altLang="ja-JP" sz="15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calculation version</a:t>
            </a:r>
          </a:p>
          <a:p>
            <a:r>
              <a:rPr kumimoji="1" lang="en-US" altLang="ja-JP" sz="15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calculation signature</a:t>
            </a:r>
          </a:p>
          <a:p>
            <a:r>
              <a:rPr kumimoji="1" lang="en-US" altLang="ja-JP" sz="15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dataset signature</a:t>
            </a:r>
            <a:endParaRPr kumimoji="1" lang="ja-JP" altLang="en-US" sz="1500">
              <a:solidFill>
                <a:srgbClr val="1C263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B142C3B-C12D-E3DB-A137-B7734C3E2792}"/>
              </a:ext>
            </a:extLst>
          </p:cNvPr>
          <p:cNvSpPr txBox="1"/>
          <p:nvPr/>
        </p:nvSpPr>
        <p:spPr>
          <a:xfrm>
            <a:off x="787400" y="5105400"/>
            <a:ext cx="2603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200" b="1">
                <a:solidFill>
                  <a:srgbClr val="C6374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同一</a:t>
            </a:r>
            <a:r>
              <a:rPr kumimoji="1" lang="en-US" altLang="ja-JP" sz="1200" b="1">
                <a:solidFill>
                  <a:srgbClr val="C6374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ID</a:t>
            </a:r>
            <a:r>
              <a:rPr kumimoji="1" lang="ja-JP" altLang="en-US" sz="1200" b="1">
                <a:solidFill>
                  <a:srgbClr val="C6374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・異構造は </a:t>
            </a:r>
            <a:r>
              <a:rPr kumimoji="1" lang="en-US" altLang="ja-JP" sz="1200" b="1">
                <a:solidFill>
                  <a:srgbClr val="C6374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fail-fast</a:t>
            </a:r>
            <a:endParaRPr kumimoji="1" lang="ja-JP" altLang="en-US" sz="1200" b="1">
              <a:solidFill>
                <a:srgbClr val="C6374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129B71C-852B-4837-B860-22DC86C30C3C}"/>
              </a:ext>
            </a:extLst>
          </p:cNvPr>
          <p:cNvCxnSpPr/>
          <p:nvPr/>
        </p:nvCxnSpPr>
        <p:spPr>
          <a:xfrm>
            <a:off x="3784600" y="3937000"/>
            <a:ext cx="596900" cy="0"/>
          </a:xfrm>
          <a:prstGeom prst="line">
            <a:avLst/>
          </a:prstGeom>
          <a:ln w="31750">
            <a:solidFill>
              <a:srgbClr val="1C6FB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24A7479F-0960-5076-78E5-4C719B177BA5}"/>
              </a:ext>
            </a:extLst>
          </p:cNvPr>
          <p:cNvSpPr/>
          <p:nvPr/>
        </p:nvSpPr>
        <p:spPr>
          <a:xfrm>
            <a:off x="4521200" y="1968500"/>
            <a:ext cx="3175000" cy="3937000"/>
          </a:xfrm>
          <a:prstGeom prst="roundRect">
            <a:avLst/>
          </a:prstGeom>
          <a:solidFill>
            <a:srgbClr val="E7F3FA"/>
          </a:solidFill>
          <a:ln w="15875">
            <a:solidFill>
              <a:srgbClr val="1C6F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926D7C2-9347-42BB-628E-DC3006934BB9}"/>
              </a:ext>
            </a:extLst>
          </p:cNvPr>
          <p:cNvSpPr txBox="1"/>
          <p:nvPr/>
        </p:nvSpPr>
        <p:spPr>
          <a:xfrm>
            <a:off x="4800600" y="22352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1C6FB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18 Description</a:t>
            </a:r>
            <a:endParaRPr kumimoji="1" lang="ja-JP" altLang="en-US" b="1">
              <a:solidFill>
                <a:srgbClr val="1C6FB8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33B28C6C-6310-11EE-668C-65C6BDF1C469}"/>
              </a:ext>
            </a:extLst>
          </p:cNvPr>
          <p:cNvSpPr/>
          <p:nvPr/>
        </p:nvSpPr>
        <p:spPr>
          <a:xfrm>
            <a:off x="4800600" y="2844800"/>
            <a:ext cx="1168400" cy="5461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A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6F752C4-BE94-942E-9ABC-3A3EAEE8D788}"/>
              </a:ext>
            </a:extLst>
          </p:cNvPr>
          <p:cNvSpPr txBox="1"/>
          <p:nvPr/>
        </p:nvSpPr>
        <p:spPr>
          <a:xfrm>
            <a:off x="4864100" y="3009900"/>
            <a:ext cx="1041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1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2D</a:t>
            </a:r>
            <a:r>
              <a:rPr kumimoji="1" lang="ja-JP" altLang="en-US" sz="11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物性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0892B84E-67DE-8A96-2ECE-25FDDABE9ABD}"/>
              </a:ext>
            </a:extLst>
          </p:cNvPr>
          <p:cNvSpPr/>
          <p:nvPr/>
        </p:nvSpPr>
        <p:spPr>
          <a:xfrm>
            <a:off x="6134100" y="2844800"/>
            <a:ext cx="1168400" cy="5461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A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FEA5316-E603-F078-E1F5-FA6E5BC66B44}"/>
              </a:ext>
            </a:extLst>
          </p:cNvPr>
          <p:cNvSpPr txBox="1"/>
          <p:nvPr/>
        </p:nvSpPr>
        <p:spPr>
          <a:xfrm>
            <a:off x="6197600" y="3009900"/>
            <a:ext cx="1041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1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Fingerprint</a:t>
            </a:r>
            <a:endParaRPr kumimoji="1" lang="ja-JP" altLang="en-US" sz="1100" b="1">
              <a:solidFill>
                <a:srgbClr val="1C263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809E027F-8470-5265-945A-8A5FCF0ECC9A}"/>
              </a:ext>
            </a:extLst>
          </p:cNvPr>
          <p:cNvSpPr/>
          <p:nvPr/>
        </p:nvSpPr>
        <p:spPr>
          <a:xfrm>
            <a:off x="4800600" y="3632200"/>
            <a:ext cx="1168400" cy="5461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A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3F41E3B-1C0C-CE9B-F721-1469BBC032A7}"/>
              </a:ext>
            </a:extLst>
          </p:cNvPr>
          <p:cNvSpPr txBox="1"/>
          <p:nvPr/>
        </p:nvSpPr>
        <p:spPr>
          <a:xfrm>
            <a:off x="4864100" y="3797300"/>
            <a:ext cx="1041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1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Scaffold</a:t>
            </a:r>
            <a:endParaRPr kumimoji="1" lang="ja-JP" altLang="en-US" sz="1100" b="1">
              <a:solidFill>
                <a:srgbClr val="1C263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172C920E-AF6C-17A3-7E45-8E896FA7C3DB}"/>
              </a:ext>
            </a:extLst>
          </p:cNvPr>
          <p:cNvSpPr/>
          <p:nvPr/>
        </p:nvSpPr>
        <p:spPr>
          <a:xfrm>
            <a:off x="6134100" y="3632200"/>
            <a:ext cx="1168400" cy="5461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A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42DBBD4-9B20-6A3B-632F-79189D45E9C4}"/>
              </a:ext>
            </a:extLst>
          </p:cNvPr>
          <p:cNvSpPr txBox="1"/>
          <p:nvPr/>
        </p:nvSpPr>
        <p:spPr>
          <a:xfrm>
            <a:off x="6197600" y="3797300"/>
            <a:ext cx="1041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1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Pharmacophore</a:t>
            </a:r>
            <a:endParaRPr kumimoji="1" lang="ja-JP" altLang="en-US" sz="1100" b="1">
              <a:solidFill>
                <a:srgbClr val="1C263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5479AE64-6CC6-719B-6755-147061F3CA73}"/>
              </a:ext>
            </a:extLst>
          </p:cNvPr>
          <p:cNvSpPr/>
          <p:nvPr/>
        </p:nvSpPr>
        <p:spPr>
          <a:xfrm>
            <a:off x="4800600" y="4419600"/>
            <a:ext cx="1168400" cy="5461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A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21EB9E2-0CA1-37D7-E22B-D1F11FDA8F50}"/>
              </a:ext>
            </a:extLst>
          </p:cNvPr>
          <p:cNvSpPr txBox="1"/>
          <p:nvPr/>
        </p:nvSpPr>
        <p:spPr>
          <a:xfrm>
            <a:off x="4864100" y="4584700"/>
            <a:ext cx="1041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1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3D</a:t>
            </a:r>
            <a:r>
              <a:rPr kumimoji="1" lang="ja-JP" altLang="en-US" sz="11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形状</a:t>
            </a: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6FFB18BC-6C24-B640-18D6-0143E5693D7E}"/>
              </a:ext>
            </a:extLst>
          </p:cNvPr>
          <p:cNvSpPr/>
          <p:nvPr/>
        </p:nvSpPr>
        <p:spPr>
          <a:xfrm>
            <a:off x="6134100" y="4419600"/>
            <a:ext cx="1168400" cy="5461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A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1607008-D27B-4FB5-4878-56D48513439B}"/>
              </a:ext>
            </a:extLst>
          </p:cNvPr>
          <p:cNvSpPr txBox="1"/>
          <p:nvPr/>
        </p:nvSpPr>
        <p:spPr>
          <a:xfrm>
            <a:off x="6197600" y="4584700"/>
            <a:ext cx="1041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1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Mordred</a:t>
            </a:r>
            <a:endParaRPr kumimoji="1" lang="ja-JP" altLang="en-US" sz="1100" b="1">
              <a:solidFill>
                <a:srgbClr val="1C263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60119C68-3378-95BB-5AED-75A67437765D}"/>
              </a:ext>
            </a:extLst>
          </p:cNvPr>
          <p:cNvSpPr txBox="1"/>
          <p:nvPr/>
        </p:nvSpPr>
        <p:spPr>
          <a:xfrm>
            <a:off x="4851400" y="5283200"/>
            <a:ext cx="2514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1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terminal SKIP</a:t>
            </a:r>
            <a:r>
              <a:rPr kumimoji="1" lang="ja-JP" altLang="en-US" sz="11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も理由付きで保存</a:t>
            </a: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DAB231D3-7538-AD99-514B-337D8FAB5E4A}"/>
              </a:ext>
            </a:extLst>
          </p:cNvPr>
          <p:cNvCxnSpPr/>
          <p:nvPr/>
        </p:nvCxnSpPr>
        <p:spPr>
          <a:xfrm>
            <a:off x="7823200" y="3937000"/>
            <a:ext cx="596900" cy="0"/>
          </a:xfrm>
          <a:prstGeom prst="line">
            <a:avLst/>
          </a:prstGeom>
          <a:ln w="31750">
            <a:solidFill>
              <a:srgbClr val="20975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E30A96D7-06A3-BE3E-5970-992A3E9B0386}"/>
              </a:ext>
            </a:extLst>
          </p:cNvPr>
          <p:cNvSpPr/>
          <p:nvPr/>
        </p:nvSpPr>
        <p:spPr>
          <a:xfrm>
            <a:off x="8559800" y="1968500"/>
            <a:ext cx="3098800" cy="3937000"/>
          </a:xfrm>
          <a:prstGeom prst="roundRect">
            <a:avLst/>
          </a:prstGeom>
          <a:solidFill>
            <a:srgbClr val="E6F6ED"/>
          </a:solidFill>
          <a:ln w="15875">
            <a:solidFill>
              <a:srgbClr val="2097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88610C0-2C6E-0F89-9BF7-E97E2A3DAD17}"/>
              </a:ext>
            </a:extLst>
          </p:cNvPr>
          <p:cNvSpPr txBox="1"/>
          <p:nvPr/>
        </p:nvSpPr>
        <p:spPr>
          <a:xfrm>
            <a:off x="8839200" y="22352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b="1">
                <a:solidFill>
                  <a:srgbClr val="20975E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別</a:t>
            </a:r>
            <a:r>
              <a:rPr kumimoji="1" lang="en-US" altLang="ja-JP" b="1">
                <a:solidFill>
                  <a:srgbClr val="20975E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Endpoint Run</a:t>
            </a:r>
            <a:endParaRPr kumimoji="1" lang="ja-JP" altLang="en-US" b="1">
              <a:solidFill>
                <a:srgbClr val="20975E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6452F728-8E0C-0CFD-4729-AFE3BEC57E67}"/>
              </a:ext>
            </a:extLst>
          </p:cNvPr>
          <p:cNvSpPr txBox="1"/>
          <p:nvPr/>
        </p:nvSpPr>
        <p:spPr>
          <a:xfrm>
            <a:off x="8890000" y="2870200"/>
            <a:ext cx="24384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構造資産：再利用</a:t>
            </a:r>
          </a:p>
          <a:p>
            <a:r>
              <a:rPr kumimoji="1" lang="en-US" altLang="ja-JP" sz="15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Endpoint table</a:t>
            </a:r>
            <a:r>
              <a:rPr kumimoji="1" lang="ja-JP" altLang="en-US" sz="15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：新規</a:t>
            </a:r>
          </a:p>
          <a:p>
            <a:r>
              <a:rPr kumimoji="1" lang="en-US" altLang="ja-JP" sz="15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Lens</a:t>
            </a:r>
            <a:r>
              <a:rPr kumimoji="1" lang="ja-JP" altLang="en-US" sz="15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：新規</a:t>
            </a:r>
          </a:p>
          <a:p>
            <a:r>
              <a:rPr kumimoji="1" lang="en-US" altLang="ja-JP" sz="15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Scoring</a:t>
            </a:r>
            <a:r>
              <a:rPr kumimoji="1" lang="ja-JP" altLang="en-US" sz="15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：新規</a:t>
            </a:r>
          </a:p>
          <a:p>
            <a:r>
              <a:rPr kumimoji="1" lang="en-US" altLang="ja-JP" sz="15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Deep dive</a:t>
            </a:r>
            <a:r>
              <a:rPr kumimoji="1" lang="ja-JP" altLang="en-US" sz="15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：新規</a:t>
            </a:r>
          </a:p>
          <a:p>
            <a:r>
              <a:rPr kumimoji="1" lang="en-US" altLang="ja-JP" sz="15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Report</a:t>
            </a:r>
            <a:r>
              <a:rPr kumimoji="1" lang="ja-JP" altLang="en-US" sz="15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：新規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644D8A3-2C2F-F001-BBB5-E1C6B0B6B06B}"/>
              </a:ext>
            </a:extLst>
          </p:cNvPr>
          <p:cNvSpPr txBox="1"/>
          <p:nvPr/>
        </p:nvSpPr>
        <p:spPr>
          <a:xfrm>
            <a:off x="8890000" y="5105400"/>
            <a:ext cx="2413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100" b="1">
                <a:solidFill>
                  <a:srgbClr val="C6374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旧</a:t>
            </a:r>
            <a:r>
              <a:rPr kumimoji="1" lang="en-US" altLang="ja-JP" sz="1100" b="1">
                <a:solidFill>
                  <a:srgbClr val="C6374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Finding</a:t>
            </a:r>
            <a:r>
              <a:rPr kumimoji="1" lang="ja-JP" altLang="en-US" sz="1100" b="1">
                <a:solidFill>
                  <a:srgbClr val="C6374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や</a:t>
            </a:r>
            <a:r>
              <a:rPr kumimoji="1" lang="en-US" altLang="ja-JP" sz="1100" b="1">
                <a:solidFill>
                  <a:srgbClr val="C6374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narrative</a:t>
            </a:r>
            <a:r>
              <a:rPr kumimoji="1" lang="ja-JP" altLang="en-US" sz="1100" b="1">
                <a:solidFill>
                  <a:srgbClr val="C6374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は流用しない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033D1665-3A09-87F5-C915-74E2E913E89C}"/>
              </a:ext>
            </a:extLst>
          </p:cNvPr>
          <p:cNvSpPr txBox="1"/>
          <p:nvPr/>
        </p:nvSpPr>
        <p:spPr>
          <a:xfrm>
            <a:off x="533400" y="65532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8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CONDUCTOR 0.2.1  |  2026-09-29</a:t>
            </a:r>
            <a:endParaRPr kumimoji="1" lang="ja-JP" altLang="en-US" sz="800">
              <a:solidFill>
                <a:srgbClr val="566675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F6B9B04-CB1D-0CC3-FB1E-8227E00CA556}"/>
              </a:ext>
            </a:extLst>
          </p:cNvPr>
          <p:cNvSpPr txBox="1"/>
          <p:nvPr/>
        </p:nvSpPr>
        <p:spPr>
          <a:xfrm>
            <a:off x="11176000" y="65532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8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endParaRPr kumimoji="1" lang="ja-JP" altLang="en-US" sz="800">
              <a:solidFill>
                <a:srgbClr val="566675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27809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62A67EE-21F8-4056-7F57-1A196AF5A914}"/>
              </a:ext>
            </a:extLst>
          </p:cNvPr>
          <p:cNvSpPr txBox="1"/>
          <p:nvPr/>
        </p:nvSpPr>
        <p:spPr>
          <a:xfrm>
            <a:off x="533400" y="2794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1F9DB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04 / 08</a:t>
            </a:r>
            <a:endParaRPr kumimoji="1" lang="ja-JP" altLang="en-US" sz="1100" b="1">
              <a:solidFill>
                <a:srgbClr val="1F9DB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C728E01-9363-0A42-970F-1CBB70A15511}"/>
              </a:ext>
            </a:extLst>
          </p:cNvPr>
          <p:cNvSpPr txBox="1"/>
          <p:nvPr/>
        </p:nvSpPr>
        <p:spPr>
          <a:xfrm>
            <a:off x="533400" y="596900"/>
            <a:ext cx="11049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28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6</a:t>
            </a:r>
            <a:r>
              <a:rPr kumimoji="1" lang="ja-JP" altLang="en-US" sz="28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つの</a:t>
            </a:r>
            <a:r>
              <a:rPr kumimoji="1" lang="en-US" altLang="ja-JP" sz="28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Lens</a:t>
            </a:r>
            <a:r>
              <a:rPr kumimoji="1" lang="ja-JP" altLang="en-US" sz="28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で異なる</a:t>
            </a:r>
            <a:r>
              <a:rPr kumimoji="1" lang="en-US" altLang="ja-JP" sz="28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SAR</a:t>
            </a:r>
            <a:r>
              <a:rPr kumimoji="1" lang="ja-JP" altLang="en-US" sz="28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の問いを立てる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0D6BBDF-A0AE-3E71-E812-C166B5A640FB}"/>
              </a:ext>
            </a:extLst>
          </p:cNvPr>
          <p:cNvSpPr txBox="1"/>
          <p:nvPr/>
        </p:nvSpPr>
        <p:spPr>
          <a:xfrm>
            <a:off x="558800" y="11938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同じデータを一つのクラスタリングへ還元せず、問いごとに統計族と</a:t>
            </a:r>
            <a:r>
              <a:rPr kumimoji="1" lang="en-US" altLang="ja-JP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Evidence</a:t>
            </a:r>
            <a:r>
              <a:rPr kumimoji="1" lang="ja-JP" altLang="en-US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を分離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E1CC58C6-E339-03A3-D1AD-6F432480258C}"/>
              </a:ext>
            </a:extLst>
          </p:cNvPr>
          <p:cNvCxnSpPr/>
          <p:nvPr/>
        </p:nvCxnSpPr>
        <p:spPr>
          <a:xfrm>
            <a:off x="533400" y="1625600"/>
            <a:ext cx="11125200" cy="0"/>
          </a:xfrm>
          <a:prstGeom prst="line">
            <a:avLst/>
          </a:prstGeom>
          <a:ln w="15875">
            <a:solidFill>
              <a:srgbClr val="CF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AC6DAAC-A51E-BE1F-D010-85AEF632BFB2}"/>
              </a:ext>
            </a:extLst>
          </p:cNvPr>
          <p:cNvSpPr/>
          <p:nvPr/>
        </p:nvSpPr>
        <p:spPr>
          <a:xfrm>
            <a:off x="533400" y="1981200"/>
            <a:ext cx="3505200" cy="177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C6F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E96DAA3D-FD59-D368-704C-36F8DC953F70}"/>
              </a:ext>
            </a:extLst>
          </p:cNvPr>
          <p:cNvSpPr/>
          <p:nvPr/>
        </p:nvSpPr>
        <p:spPr>
          <a:xfrm>
            <a:off x="762000" y="2209800"/>
            <a:ext cx="609600" cy="609600"/>
          </a:xfrm>
          <a:prstGeom prst="ellipse">
            <a:avLst/>
          </a:prstGeom>
          <a:solidFill>
            <a:srgbClr val="1C6F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00DE482-C2FA-58AF-7FA4-2D1E3F249A60}"/>
              </a:ext>
            </a:extLst>
          </p:cNvPr>
          <p:cNvSpPr txBox="1"/>
          <p:nvPr/>
        </p:nvSpPr>
        <p:spPr>
          <a:xfrm>
            <a:off x="762000" y="2400300"/>
            <a:ext cx="609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1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L1b</a:t>
            </a:r>
            <a:endParaRPr kumimoji="1" lang="ja-JP" altLang="en-US" sz="11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D2C0B4E-ADE6-F78F-6ED7-DD107C941D62}"/>
              </a:ext>
            </a:extLst>
          </p:cNvPr>
          <p:cNvSpPr txBox="1"/>
          <p:nvPr/>
        </p:nvSpPr>
        <p:spPr>
          <a:xfrm>
            <a:off x="1549400" y="2209800"/>
            <a:ext cx="2209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6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局所</a:t>
            </a:r>
            <a:r>
              <a:rPr kumimoji="1" lang="en-US" altLang="ja-JP" sz="16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SAR</a:t>
            </a:r>
            <a:endParaRPr kumimoji="1" lang="ja-JP" altLang="en-US" sz="1600" b="1">
              <a:solidFill>
                <a:srgbClr val="0D2750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C0D1BB4-A950-4F08-FD88-19ADAF562330}"/>
              </a:ext>
            </a:extLst>
          </p:cNvPr>
          <p:cNvSpPr txBox="1"/>
          <p:nvPr/>
        </p:nvSpPr>
        <p:spPr>
          <a:xfrm>
            <a:off x="1549400" y="2641600"/>
            <a:ext cx="2209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2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近傍の中で外れる化合物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1815BF93-17E7-8357-E07F-208D82DAD025}"/>
              </a:ext>
            </a:extLst>
          </p:cNvPr>
          <p:cNvCxnSpPr/>
          <p:nvPr/>
        </p:nvCxnSpPr>
        <p:spPr>
          <a:xfrm>
            <a:off x="825500" y="3454400"/>
            <a:ext cx="2857500" cy="0"/>
          </a:xfrm>
          <a:prstGeom prst="line">
            <a:avLst/>
          </a:prstGeom>
          <a:ln w="38100">
            <a:solidFill>
              <a:srgbClr val="1C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E281335A-565C-CD98-1FA2-057FBCA910D2}"/>
              </a:ext>
            </a:extLst>
          </p:cNvPr>
          <p:cNvSpPr/>
          <p:nvPr/>
        </p:nvSpPr>
        <p:spPr>
          <a:xfrm>
            <a:off x="4343400" y="1981200"/>
            <a:ext cx="3505200" cy="177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9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A94D62C5-92E9-FEEB-1348-BFC418F2AFA2}"/>
              </a:ext>
            </a:extLst>
          </p:cNvPr>
          <p:cNvSpPr/>
          <p:nvPr/>
        </p:nvSpPr>
        <p:spPr>
          <a:xfrm>
            <a:off x="4572000" y="2209800"/>
            <a:ext cx="609600" cy="609600"/>
          </a:xfrm>
          <a:prstGeom prst="ellipse">
            <a:avLst/>
          </a:prstGeom>
          <a:solidFill>
            <a:srgbClr val="1F9D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6BCD8AC-D3D8-7189-4F54-30054CAC82F8}"/>
              </a:ext>
            </a:extLst>
          </p:cNvPr>
          <p:cNvSpPr txBox="1"/>
          <p:nvPr/>
        </p:nvSpPr>
        <p:spPr>
          <a:xfrm>
            <a:off x="4572000" y="2400300"/>
            <a:ext cx="609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1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L2a</a:t>
            </a:r>
            <a:endParaRPr kumimoji="1" lang="ja-JP" altLang="en-US" sz="11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5B2BDD1-09F1-972E-CFBF-496352A9AC99}"/>
              </a:ext>
            </a:extLst>
          </p:cNvPr>
          <p:cNvSpPr txBox="1"/>
          <p:nvPr/>
        </p:nvSpPr>
        <p:spPr>
          <a:xfrm>
            <a:off x="5359400" y="2209800"/>
            <a:ext cx="2209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6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文脈依存</a:t>
            </a:r>
            <a:r>
              <a:rPr kumimoji="1" lang="en-US" altLang="ja-JP" sz="16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MMP</a:t>
            </a:r>
            <a:endParaRPr kumimoji="1" lang="ja-JP" altLang="en-US" sz="1600" b="1">
              <a:solidFill>
                <a:srgbClr val="0D2750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01D6FDE-898C-8022-D48B-43D54F1AD4B2}"/>
              </a:ext>
            </a:extLst>
          </p:cNvPr>
          <p:cNvSpPr txBox="1"/>
          <p:nvPr/>
        </p:nvSpPr>
        <p:spPr>
          <a:xfrm>
            <a:off x="5359400" y="2641600"/>
            <a:ext cx="2209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2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同じ置換が条件で変わる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8256B512-84F3-3EE0-CF07-78AE888412EF}"/>
              </a:ext>
            </a:extLst>
          </p:cNvPr>
          <p:cNvCxnSpPr/>
          <p:nvPr/>
        </p:nvCxnSpPr>
        <p:spPr>
          <a:xfrm>
            <a:off x="4635500" y="3454400"/>
            <a:ext cx="2857500" cy="0"/>
          </a:xfrm>
          <a:prstGeom prst="line">
            <a:avLst/>
          </a:prstGeom>
          <a:ln w="38100">
            <a:solidFill>
              <a:srgbClr val="1F9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05CD6D67-07C7-8DB6-5CA7-60F3C70E4859}"/>
              </a:ext>
            </a:extLst>
          </p:cNvPr>
          <p:cNvSpPr/>
          <p:nvPr/>
        </p:nvSpPr>
        <p:spPr>
          <a:xfrm>
            <a:off x="8153400" y="1981200"/>
            <a:ext cx="3505200" cy="177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097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9FDB8966-7A3B-6E76-C1AB-85E81D49DAE8}"/>
              </a:ext>
            </a:extLst>
          </p:cNvPr>
          <p:cNvSpPr/>
          <p:nvPr/>
        </p:nvSpPr>
        <p:spPr>
          <a:xfrm>
            <a:off x="8382000" y="2209800"/>
            <a:ext cx="609600" cy="609600"/>
          </a:xfrm>
          <a:prstGeom prst="ellipse">
            <a:avLst/>
          </a:prstGeom>
          <a:solidFill>
            <a:srgbClr val="2097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61F0A05-9041-4D1F-EE56-D25186291B43}"/>
              </a:ext>
            </a:extLst>
          </p:cNvPr>
          <p:cNvSpPr txBox="1"/>
          <p:nvPr/>
        </p:nvSpPr>
        <p:spPr>
          <a:xfrm>
            <a:off x="8382000" y="2400300"/>
            <a:ext cx="609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1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L2b</a:t>
            </a:r>
            <a:endParaRPr kumimoji="1" lang="ja-JP" altLang="en-US" sz="11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6CCC917-771C-24B5-9446-CB3D77C3CE56}"/>
              </a:ext>
            </a:extLst>
          </p:cNvPr>
          <p:cNvSpPr txBox="1"/>
          <p:nvPr/>
        </p:nvSpPr>
        <p:spPr>
          <a:xfrm>
            <a:off x="9169400" y="2209800"/>
            <a:ext cx="2209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6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fragment</a:t>
            </a:r>
            <a:r>
              <a:rPr kumimoji="1" lang="ja-JP" altLang="en-US" sz="16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効果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5D0DEAF-2895-058D-FBCD-5CAD60DA8033}"/>
              </a:ext>
            </a:extLst>
          </p:cNvPr>
          <p:cNvSpPr txBox="1"/>
          <p:nvPr/>
        </p:nvSpPr>
        <p:spPr>
          <a:xfrm>
            <a:off x="9169400" y="2641600"/>
            <a:ext cx="2209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2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系列を越えた一貫性／異質性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250FE55F-DF3B-4029-CD5D-E34F15FD1DBA}"/>
              </a:ext>
            </a:extLst>
          </p:cNvPr>
          <p:cNvCxnSpPr/>
          <p:nvPr/>
        </p:nvCxnSpPr>
        <p:spPr>
          <a:xfrm>
            <a:off x="8445500" y="3454400"/>
            <a:ext cx="2857500" cy="0"/>
          </a:xfrm>
          <a:prstGeom prst="line">
            <a:avLst/>
          </a:prstGeom>
          <a:ln w="38100">
            <a:solidFill>
              <a:srgbClr val="2097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0BE15A5F-BEFD-E873-7FF6-E40F17F25C95}"/>
              </a:ext>
            </a:extLst>
          </p:cNvPr>
          <p:cNvSpPr/>
          <p:nvPr/>
        </p:nvSpPr>
        <p:spPr>
          <a:xfrm>
            <a:off x="533400" y="4076700"/>
            <a:ext cx="3505200" cy="177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984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2F8FA44-C962-D5B3-3DAD-3651CF3C5AB5}"/>
              </a:ext>
            </a:extLst>
          </p:cNvPr>
          <p:cNvSpPr/>
          <p:nvPr/>
        </p:nvSpPr>
        <p:spPr>
          <a:xfrm>
            <a:off x="762000" y="4305300"/>
            <a:ext cx="609600" cy="609600"/>
          </a:xfrm>
          <a:prstGeom prst="ellipse">
            <a:avLst/>
          </a:prstGeom>
          <a:solidFill>
            <a:srgbClr val="E984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B7F9DA8-DA1E-62BF-4EF9-7CA99C2B8471}"/>
              </a:ext>
            </a:extLst>
          </p:cNvPr>
          <p:cNvSpPr txBox="1"/>
          <p:nvPr/>
        </p:nvSpPr>
        <p:spPr>
          <a:xfrm>
            <a:off x="762000" y="4495800"/>
            <a:ext cx="609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1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L4</a:t>
            </a:r>
            <a:endParaRPr kumimoji="1" lang="ja-JP" altLang="en-US" sz="11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BFF9AD85-AF2D-B8F5-2AEF-65784E3267E5}"/>
              </a:ext>
            </a:extLst>
          </p:cNvPr>
          <p:cNvSpPr txBox="1"/>
          <p:nvPr/>
        </p:nvSpPr>
        <p:spPr>
          <a:xfrm>
            <a:off x="1549400" y="4305300"/>
            <a:ext cx="2209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6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Frontier</a:t>
            </a:r>
            <a:endParaRPr kumimoji="1" lang="ja-JP" altLang="en-US" sz="1600" b="1">
              <a:solidFill>
                <a:srgbClr val="0D2750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9010F5E-7057-5D86-4E04-E92DAC5A63BD}"/>
              </a:ext>
            </a:extLst>
          </p:cNvPr>
          <p:cNvSpPr txBox="1"/>
          <p:nvPr/>
        </p:nvSpPr>
        <p:spPr>
          <a:xfrm>
            <a:off x="1549400" y="4737100"/>
            <a:ext cx="2209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2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未探索で到達可能な候補</a:t>
            </a:r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257A7F5C-7F51-7B2C-3984-0B79DE03AB44}"/>
              </a:ext>
            </a:extLst>
          </p:cNvPr>
          <p:cNvCxnSpPr/>
          <p:nvPr/>
        </p:nvCxnSpPr>
        <p:spPr>
          <a:xfrm>
            <a:off x="825500" y="5549900"/>
            <a:ext cx="2857500" cy="0"/>
          </a:xfrm>
          <a:prstGeom prst="line">
            <a:avLst/>
          </a:prstGeom>
          <a:ln w="38100">
            <a:solidFill>
              <a:srgbClr val="E984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E06EA741-B77D-0E8E-5901-F1E6F178A375}"/>
              </a:ext>
            </a:extLst>
          </p:cNvPr>
          <p:cNvSpPr/>
          <p:nvPr/>
        </p:nvSpPr>
        <p:spPr>
          <a:xfrm>
            <a:off x="4343400" y="4076700"/>
            <a:ext cx="3505200" cy="177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637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FC773EF4-4691-03C8-79DB-826348662227}"/>
              </a:ext>
            </a:extLst>
          </p:cNvPr>
          <p:cNvSpPr/>
          <p:nvPr/>
        </p:nvSpPr>
        <p:spPr>
          <a:xfrm>
            <a:off x="4572000" y="4305300"/>
            <a:ext cx="609600" cy="609600"/>
          </a:xfrm>
          <a:prstGeom prst="ellipse">
            <a:avLst/>
          </a:prstGeom>
          <a:solidFill>
            <a:srgbClr val="C637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5D06094E-AF80-AE1C-899D-2B6D576CBFCB}"/>
              </a:ext>
            </a:extLst>
          </p:cNvPr>
          <p:cNvSpPr txBox="1"/>
          <p:nvPr/>
        </p:nvSpPr>
        <p:spPr>
          <a:xfrm>
            <a:off x="4572000" y="4495800"/>
            <a:ext cx="609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1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L5</a:t>
            </a:r>
            <a:endParaRPr kumimoji="1" lang="ja-JP" altLang="en-US" sz="11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5EC65BEE-715E-EAF0-DDE2-82FB384744A2}"/>
              </a:ext>
            </a:extLst>
          </p:cNvPr>
          <p:cNvSpPr txBox="1"/>
          <p:nvPr/>
        </p:nvSpPr>
        <p:spPr>
          <a:xfrm>
            <a:off x="5359400" y="4305300"/>
            <a:ext cx="2209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6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相関反転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5DF2EAD4-498F-F680-2558-15029DCDABD4}"/>
              </a:ext>
            </a:extLst>
          </p:cNvPr>
          <p:cNvSpPr txBox="1"/>
          <p:nvPr/>
        </p:nvSpPr>
        <p:spPr>
          <a:xfrm>
            <a:off x="5359400" y="4737100"/>
            <a:ext cx="2209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feature</a:t>
            </a:r>
            <a:r>
              <a:rPr kumimoji="1" lang="ja-JP" altLang="en-US" sz="12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関係が文脈で逆転</a:t>
            </a:r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45AA28F1-4DC2-2A6B-AC4D-CAD5D3E9FD30}"/>
              </a:ext>
            </a:extLst>
          </p:cNvPr>
          <p:cNvCxnSpPr/>
          <p:nvPr/>
        </p:nvCxnSpPr>
        <p:spPr>
          <a:xfrm>
            <a:off x="4635500" y="5549900"/>
            <a:ext cx="2857500" cy="0"/>
          </a:xfrm>
          <a:prstGeom prst="line">
            <a:avLst/>
          </a:prstGeom>
          <a:ln w="38100">
            <a:solidFill>
              <a:srgbClr val="C63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488BFB15-CDAB-4BC9-6F96-9FF3DC7EEC8A}"/>
              </a:ext>
            </a:extLst>
          </p:cNvPr>
          <p:cNvSpPr/>
          <p:nvPr/>
        </p:nvSpPr>
        <p:spPr>
          <a:xfrm>
            <a:off x="8153400" y="4076700"/>
            <a:ext cx="3505200" cy="177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D27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4056F299-9026-A0D1-D3CD-E15CE366195E}"/>
              </a:ext>
            </a:extLst>
          </p:cNvPr>
          <p:cNvSpPr/>
          <p:nvPr/>
        </p:nvSpPr>
        <p:spPr>
          <a:xfrm>
            <a:off x="8382000" y="4305300"/>
            <a:ext cx="609600" cy="609600"/>
          </a:xfrm>
          <a:prstGeom prst="ellipse">
            <a:avLst/>
          </a:prstGeom>
          <a:solidFill>
            <a:srgbClr val="0D2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2FEED7A5-6036-154C-D047-68135C11D8E9}"/>
              </a:ext>
            </a:extLst>
          </p:cNvPr>
          <p:cNvSpPr txBox="1"/>
          <p:nvPr/>
        </p:nvSpPr>
        <p:spPr>
          <a:xfrm>
            <a:off x="8382000" y="4495800"/>
            <a:ext cx="609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1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L7</a:t>
            </a:r>
            <a:endParaRPr kumimoji="1" lang="ja-JP" altLang="en-US" sz="11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E0E29E80-3515-B941-4D56-D5E72E5A1B69}"/>
              </a:ext>
            </a:extLst>
          </p:cNvPr>
          <p:cNvSpPr txBox="1"/>
          <p:nvPr/>
        </p:nvSpPr>
        <p:spPr>
          <a:xfrm>
            <a:off x="9169400" y="4305300"/>
            <a:ext cx="2209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6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系列移植性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CF214784-FAD1-222B-46DA-FC04314A6680}"/>
              </a:ext>
            </a:extLst>
          </p:cNvPr>
          <p:cNvSpPr txBox="1"/>
          <p:nvPr/>
        </p:nvSpPr>
        <p:spPr>
          <a:xfrm>
            <a:off x="9169400" y="4737100"/>
            <a:ext cx="2209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2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同じ</a:t>
            </a:r>
            <a:r>
              <a:rPr kumimoji="1" lang="en-US" altLang="ja-JP" sz="12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</a:t>
            </a:r>
            <a:r>
              <a:rPr kumimoji="1" lang="ja-JP" altLang="en-US" sz="12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基の効果を系列間比較</a:t>
            </a: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2E654172-F1AD-A43E-65AC-B4505A7C9394}"/>
              </a:ext>
            </a:extLst>
          </p:cNvPr>
          <p:cNvCxnSpPr/>
          <p:nvPr/>
        </p:nvCxnSpPr>
        <p:spPr>
          <a:xfrm>
            <a:off x="8445500" y="5549900"/>
            <a:ext cx="2857500" cy="0"/>
          </a:xfrm>
          <a:prstGeom prst="line">
            <a:avLst/>
          </a:prstGeom>
          <a:ln w="38100">
            <a:solidFill>
              <a:srgbClr val="0D2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C7F7A6BC-EE44-3747-D052-F1FA03728721}"/>
              </a:ext>
            </a:extLst>
          </p:cNvPr>
          <p:cNvSpPr txBox="1"/>
          <p:nvPr/>
        </p:nvSpPr>
        <p:spPr>
          <a:xfrm>
            <a:off x="533400" y="65532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8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CONDUCTOR 0.2.1  |  2026-09-29</a:t>
            </a:r>
            <a:endParaRPr kumimoji="1" lang="ja-JP" altLang="en-US" sz="800">
              <a:solidFill>
                <a:srgbClr val="566675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A1717BF3-249C-5BED-C778-1D20A875EB14}"/>
              </a:ext>
            </a:extLst>
          </p:cNvPr>
          <p:cNvSpPr txBox="1"/>
          <p:nvPr/>
        </p:nvSpPr>
        <p:spPr>
          <a:xfrm>
            <a:off x="11176000" y="65532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8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</a:t>
            </a:r>
            <a:endParaRPr kumimoji="1" lang="ja-JP" altLang="en-US" sz="800">
              <a:solidFill>
                <a:srgbClr val="566675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2483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D7E20E3-9C2C-E927-3ADD-9B03D3634F64}"/>
              </a:ext>
            </a:extLst>
          </p:cNvPr>
          <p:cNvSpPr txBox="1"/>
          <p:nvPr/>
        </p:nvSpPr>
        <p:spPr>
          <a:xfrm>
            <a:off x="533400" y="2794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1F9DB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05 / 08</a:t>
            </a:r>
            <a:endParaRPr kumimoji="1" lang="ja-JP" altLang="en-US" sz="1100" b="1">
              <a:solidFill>
                <a:srgbClr val="1F9DB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0343191-7745-BA99-B538-A1753376863C}"/>
              </a:ext>
            </a:extLst>
          </p:cNvPr>
          <p:cNvSpPr txBox="1"/>
          <p:nvPr/>
        </p:nvSpPr>
        <p:spPr>
          <a:xfrm>
            <a:off x="533400" y="596900"/>
            <a:ext cx="11049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決定論コードと</a:t>
            </a:r>
            <a:r>
              <a:rPr kumimoji="1" lang="en-US" altLang="ja-JP" sz="28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Local LLM</a:t>
            </a:r>
            <a:r>
              <a:rPr kumimoji="1" lang="ja-JP" altLang="en-US" sz="28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の境界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25E10E-DD03-FA46-9A41-C5BCDC56EB5A}"/>
              </a:ext>
            </a:extLst>
          </p:cNvPr>
          <p:cNvSpPr txBox="1"/>
          <p:nvPr/>
        </p:nvSpPr>
        <p:spPr>
          <a:xfrm>
            <a:off x="558800" y="11938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LLM</a:t>
            </a:r>
            <a:r>
              <a:rPr kumimoji="1" lang="ja-JP" altLang="en-US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は結果を決めない。許可された候補選択と、引用付き文章化だけを担当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F7C51844-5986-B215-85E5-504B9DDC261B}"/>
              </a:ext>
            </a:extLst>
          </p:cNvPr>
          <p:cNvCxnSpPr/>
          <p:nvPr/>
        </p:nvCxnSpPr>
        <p:spPr>
          <a:xfrm>
            <a:off x="533400" y="1625600"/>
            <a:ext cx="11125200" cy="0"/>
          </a:xfrm>
          <a:prstGeom prst="line">
            <a:avLst/>
          </a:prstGeom>
          <a:ln w="15875">
            <a:solidFill>
              <a:srgbClr val="CF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16C80590-471C-71D8-1288-D873D85255E6}"/>
              </a:ext>
            </a:extLst>
          </p:cNvPr>
          <p:cNvSpPr/>
          <p:nvPr/>
        </p:nvSpPr>
        <p:spPr>
          <a:xfrm>
            <a:off x="533400" y="1981200"/>
            <a:ext cx="5334000" cy="3708400"/>
          </a:xfrm>
          <a:prstGeom prst="roundRect">
            <a:avLst/>
          </a:prstGeom>
          <a:solidFill>
            <a:srgbClr val="E7F3FA"/>
          </a:solidFill>
          <a:ln w="15875">
            <a:solidFill>
              <a:srgbClr val="1C6F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964E216-9C6C-49D7-D7BB-5094AE5CA05F}"/>
              </a:ext>
            </a:extLst>
          </p:cNvPr>
          <p:cNvSpPr txBox="1"/>
          <p:nvPr/>
        </p:nvSpPr>
        <p:spPr>
          <a:xfrm>
            <a:off x="838200" y="22352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1C6FB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決定論レイヤー（</a:t>
            </a:r>
            <a:r>
              <a:rPr kumimoji="1" lang="en-US" altLang="ja-JP" b="1">
                <a:solidFill>
                  <a:srgbClr val="1C6FB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CPU</a:t>
            </a:r>
            <a:r>
              <a:rPr kumimoji="1" lang="ja-JP" altLang="en-US" b="1">
                <a:solidFill>
                  <a:srgbClr val="1C6FB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）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B4389665-F4D5-7CA1-8049-6DF86305A84A}"/>
              </a:ext>
            </a:extLst>
          </p:cNvPr>
          <p:cNvSpPr/>
          <p:nvPr/>
        </p:nvSpPr>
        <p:spPr>
          <a:xfrm>
            <a:off x="889000" y="2794000"/>
            <a:ext cx="4572000" cy="482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A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EF11BF4-7CD2-9B32-1DD3-A47E7666F900}"/>
              </a:ext>
            </a:extLst>
          </p:cNvPr>
          <p:cNvSpPr txBox="1"/>
          <p:nvPr/>
        </p:nvSpPr>
        <p:spPr>
          <a:xfrm>
            <a:off x="1066800" y="2933700"/>
            <a:ext cx="419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3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✓  </a:t>
            </a:r>
            <a:r>
              <a:rPr kumimoji="1" lang="en-US" altLang="ja-JP" sz="13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Description</a:t>
            </a:r>
            <a:r>
              <a:rPr kumimoji="1" lang="ja-JP" altLang="en-US" sz="13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・距離・クラスタ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24C60AB1-2DED-B58B-5521-1532914CC746}"/>
              </a:ext>
            </a:extLst>
          </p:cNvPr>
          <p:cNvSpPr/>
          <p:nvPr/>
        </p:nvSpPr>
        <p:spPr>
          <a:xfrm>
            <a:off x="889000" y="3454400"/>
            <a:ext cx="4572000" cy="482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A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18C40E4-AB1E-6AB6-ADE5-B784CEC4FC2A}"/>
              </a:ext>
            </a:extLst>
          </p:cNvPr>
          <p:cNvSpPr txBox="1"/>
          <p:nvPr/>
        </p:nvSpPr>
        <p:spPr>
          <a:xfrm>
            <a:off x="1066800" y="3594100"/>
            <a:ext cx="419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3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✓  効果量・</a:t>
            </a:r>
            <a:r>
              <a:rPr kumimoji="1" lang="en-US" altLang="ja-JP" sz="13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p/q</a:t>
            </a:r>
            <a:r>
              <a:rPr kumimoji="1" lang="ja-JP" altLang="en-US" sz="13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値・多重性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AD4CEFC2-C157-CE3C-E233-FCF94836DB2F}"/>
              </a:ext>
            </a:extLst>
          </p:cNvPr>
          <p:cNvSpPr/>
          <p:nvPr/>
        </p:nvSpPr>
        <p:spPr>
          <a:xfrm>
            <a:off x="889000" y="4114800"/>
            <a:ext cx="4572000" cy="482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A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09CBB16-6509-D61D-7D18-8A1D34FF4316}"/>
              </a:ext>
            </a:extLst>
          </p:cNvPr>
          <p:cNvSpPr txBox="1"/>
          <p:nvPr/>
        </p:nvSpPr>
        <p:spPr>
          <a:xfrm>
            <a:off x="1066800" y="4254500"/>
            <a:ext cx="419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✓  Finding</a:t>
            </a:r>
            <a:r>
              <a:rPr kumimoji="1" lang="ja-JP" altLang="en-US" sz="13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生成・</a:t>
            </a:r>
            <a:r>
              <a:rPr kumimoji="1" lang="en-US" altLang="ja-JP" sz="13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score</a:t>
            </a:r>
            <a:r>
              <a:rPr kumimoji="1" lang="ja-JP" altLang="en-US" sz="13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</a:t>
            </a:r>
            <a:r>
              <a:rPr kumimoji="1" lang="en-US" altLang="ja-JP" sz="13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state</a:t>
            </a:r>
            <a:endParaRPr kumimoji="1" lang="ja-JP" altLang="en-US" sz="1300" b="1">
              <a:solidFill>
                <a:srgbClr val="1C263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024A56B9-04A8-E2A9-1925-56753FD4B70C}"/>
              </a:ext>
            </a:extLst>
          </p:cNvPr>
          <p:cNvSpPr/>
          <p:nvPr/>
        </p:nvSpPr>
        <p:spPr>
          <a:xfrm>
            <a:off x="889000" y="4775200"/>
            <a:ext cx="4572000" cy="482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A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C93C7C5-5554-7733-BEDE-F783FE9BA651}"/>
              </a:ext>
            </a:extLst>
          </p:cNvPr>
          <p:cNvSpPr txBox="1"/>
          <p:nvPr/>
        </p:nvSpPr>
        <p:spPr>
          <a:xfrm>
            <a:off x="1066800" y="4914900"/>
            <a:ext cx="419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✓  template</a:t>
            </a:r>
            <a:r>
              <a:rPr kumimoji="1" lang="ja-JP" altLang="en-US" sz="13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実行・引用検証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A3C39F3A-2183-125E-94F1-851EA3CD81E2}"/>
              </a:ext>
            </a:extLst>
          </p:cNvPr>
          <p:cNvSpPr/>
          <p:nvPr/>
        </p:nvSpPr>
        <p:spPr>
          <a:xfrm>
            <a:off x="6324600" y="1981200"/>
            <a:ext cx="5334000" cy="3708400"/>
          </a:xfrm>
          <a:prstGeom prst="roundRect">
            <a:avLst/>
          </a:prstGeom>
          <a:solidFill>
            <a:srgbClr val="FFF3E1"/>
          </a:solidFill>
          <a:ln w="15875">
            <a:solidFill>
              <a:srgbClr val="E984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9E65778-01AE-74DD-F40E-F7D3E7EE8A88}"/>
              </a:ext>
            </a:extLst>
          </p:cNvPr>
          <p:cNvSpPr txBox="1"/>
          <p:nvPr/>
        </p:nvSpPr>
        <p:spPr>
          <a:xfrm>
            <a:off x="6629400" y="22352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b="1">
                <a:solidFill>
                  <a:srgbClr val="E9842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Local LLM</a:t>
            </a:r>
            <a:r>
              <a:rPr kumimoji="1" lang="ja-JP" altLang="en-US" b="1">
                <a:solidFill>
                  <a:srgbClr val="E9842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（別</a:t>
            </a:r>
            <a:r>
              <a:rPr kumimoji="1" lang="en-US" altLang="ja-JP" b="1">
                <a:solidFill>
                  <a:srgbClr val="E9842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GPU vLLM</a:t>
            </a:r>
            <a:r>
              <a:rPr kumimoji="1" lang="ja-JP" altLang="en-US" b="1">
                <a:solidFill>
                  <a:srgbClr val="E9842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）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E218A1EB-F180-8590-6093-1976BD1826F7}"/>
              </a:ext>
            </a:extLst>
          </p:cNvPr>
          <p:cNvSpPr/>
          <p:nvPr/>
        </p:nvSpPr>
        <p:spPr>
          <a:xfrm>
            <a:off x="6858000" y="2870200"/>
            <a:ext cx="4267200" cy="533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A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A4713AF-B30C-E99C-4407-FC9B35BFCD4D}"/>
              </a:ext>
            </a:extLst>
          </p:cNvPr>
          <p:cNvSpPr txBox="1"/>
          <p:nvPr/>
        </p:nvSpPr>
        <p:spPr>
          <a:xfrm>
            <a:off x="7035800" y="3022600"/>
            <a:ext cx="3886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3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select_deep_dive</a:t>
            </a:r>
            <a:endParaRPr kumimoji="1" lang="ja-JP" altLang="en-US" sz="1300" b="1">
              <a:solidFill>
                <a:srgbClr val="1C263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ACCE4DD0-FABF-E796-F3DE-8C31EE16BF80}"/>
              </a:ext>
            </a:extLst>
          </p:cNvPr>
          <p:cNvSpPr/>
          <p:nvPr/>
        </p:nvSpPr>
        <p:spPr>
          <a:xfrm>
            <a:off x="6858000" y="3632200"/>
            <a:ext cx="4267200" cy="533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A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8CC6BF5-3E30-E57C-294C-60EB21628532}"/>
              </a:ext>
            </a:extLst>
          </p:cNvPr>
          <p:cNvSpPr txBox="1"/>
          <p:nvPr/>
        </p:nvSpPr>
        <p:spPr>
          <a:xfrm>
            <a:off x="7035800" y="3784600"/>
            <a:ext cx="3886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3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summarize_deep_dive</a:t>
            </a:r>
            <a:endParaRPr kumimoji="1" lang="ja-JP" altLang="en-US" sz="1300" b="1">
              <a:solidFill>
                <a:srgbClr val="1C263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A50CE997-023D-E67F-05BB-093B9DF73B6D}"/>
              </a:ext>
            </a:extLst>
          </p:cNvPr>
          <p:cNvSpPr/>
          <p:nvPr/>
        </p:nvSpPr>
        <p:spPr>
          <a:xfrm>
            <a:off x="6858000" y="4394200"/>
            <a:ext cx="4267200" cy="533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A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10A37B6-48FD-E824-F2DE-4298F38EA806}"/>
              </a:ext>
            </a:extLst>
          </p:cNvPr>
          <p:cNvSpPr txBox="1"/>
          <p:nvPr/>
        </p:nvSpPr>
        <p:spPr>
          <a:xfrm>
            <a:off x="7035800" y="4546600"/>
            <a:ext cx="3886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3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compose_component_narrative</a:t>
            </a:r>
            <a:endParaRPr kumimoji="1" lang="ja-JP" altLang="en-US" sz="1300" b="1">
              <a:solidFill>
                <a:srgbClr val="1C263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E79DC853-5149-D402-7C30-137832ABB044}"/>
              </a:ext>
            </a:extLst>
          </p:cNvPr>
          <p:cNvCxnSpPr/>
          <p:nvPr/>
        </p:nvCxnSpPr>
        <p:spPr>
          <a:xfrm>
            <a:off x="5867400" y="3835400"/>
            <a:ext cx="457200" cy="0"/>
          </a:xfrm>
          <a:prstGeom prst="line">
            <a:avLst/>
          </a:prstGeom>
          <a:ln w="31750">
            <a:solidFill>
              <a:srgbClr val="E9842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CDA05D6-B076-5A32-BFDF-23A81D832656}"/>
              </a:ext>
            </a:extLst>
          </p:cNvPr>
          <p:cNvSpPr txBox="1"/>
          <p:nvPr/>
        </p:nvSpPr>
        <p:spPr>
          <a:xfrm>
            <a:off x="5689600" y="3479800"/>
            <a:ext cx="825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900" b="1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JSONL</a:t>
            </a:r>
            <a:endParaRPr kumimoji="1" lang="ja-JP" altLang="en-US" sz="900" b="1">
              <a:solidFill>
                <a:srgbClr val="566675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B520A830-ED23-DC55-15AA-09E7342A4EC4}"/>
              </a:ext>
            </a:extLst>
          </p:cNvPr>
          <p:cNvSpPr/>
          <p:nvPr/>
        </p:nvSpPr>
        <p:spPr>
          <a:xfrm>
            <a:off x="2260600" y="5918200"/>
            <a:ext cx="7670800" cy="457200"/>
          </a:xfrm>
          <a:prstGeom prst="roundRect">
            <a:avLst/>
          </a:prstGeom>
          <a:solidFill>
            <a:srgbClr val="FFEBED"/>
          </a:solidFill>
          <a:ln w="15875">
            <a:solidFill>
              <a:srgbClr val="C637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F42BF45-C6B2-A43C-74D7-4A58254AD0BD}"/>
              </a:ext>
            </a:extLst>
          </p:cNvPr>
          <p:cNvSpPr txBox="1"/>
          <p:nvPr/>
        </p:nvSpPr>
        <p:spPr>
          <a:xfrm>
            <a:off x="2476500" y="6045200"/>
            <a:ext cx="723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300" b="1">
                <a:solidFill>
                  <a:srgbClr val="C6374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LLM</a:t>
            </a:r>
            <a:r>
              <a:rPr kumimoji="1" lang="ja-JP" altLang="en-US" sz="1300" b="1">
                <a:solidFill>
                  <a:srgbClr val="C6374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は特徴量・数値・順位・最終判定を変更しない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40492D60-D2D8-2169-93D9-97FCD8FB90C1}"/>
              </a:ext>
            </a:extLst>
          </p:cNvPr>
          <p:cNvSpPr txBox="1"/>
          <p:nvPr/>
        </p:nvSpPr>
        <p:spPr>
          <a:xfrm>
            <a:off x="533400" y="65532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8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CONDUCTOR 0.2.1  |  2026-09-29</a:t>
            </a:r>
            <a:endParaRPr kumimoji="1" lang="ja-JP" altLang="en-US" sz="800">
              <a:solidFill>
                <a:srgbClr val="566675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B8F20B88-8160-1262-1EB0-7BC240BB41AC}"/>
              </a:ext>
            </a:extLst>
          </p:cNvPr>
          <p:cNvSpPr txBox="1"/>
          <p:nvPr/>
        </p:nvSpPr>
        <p:spPr>
          <a:xfrm>
            <a:off x="11176000" y="65532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8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</a:t>
            </a:r>
            <a:endParaRPr kumimoji="1" lang="ja-JP" altLang="en-US" sz="800">
              <a:solidFill>
                <a:srgbClr val="566675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55810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1FAE87C-ECAB-1112-32E2-E2FAD5FA0D62}"/>
              </a:ext>
            </a:extLst>
          </p:cNvPr>
          <p:cNvSpPr txBox="1"/>
          <p:nvPr/>
        </p:nvSpPr>
        <p:spPr>
          <a:xfrm>
            <a:off x="533400" y="2794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1F9DB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06 / 08</a:t>
            </a:r>
            <a:endParaRPr kumimoji="1" lang="ja-JP" altLang="en-US" sz="1100" b="1">
              <a:solidFill>
                <a:srgbClr val="1F9DB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B3B3B58-28F9-4AC1-6476-CFC845FF20A7}"/>
              </a:ext>
            </a:extLst>
          </p:cNvPr>
          <p:cNvSpPr txBox="1"/>
          <p:nvPr/>
        </p:nvSpPr>
        <p:spPr>
          <a:xfrm>
            <a:off x="533400" y="596900"/>
            <a:ext cx="11049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出力は「一覧」ではなく、知見を読むためのレポート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0703C3B-0AC0-E997-8A96-9707D21F474B}"/>
              </a:ext>
            </a:extLst>
          </p:cNvPr>
          <p:cNvSpPr txBox="1"/>
          <p:nvPr/>
        </p:nvSpPr>
        <p:spPr>
          <a:xfrm>
            <a:off x="558800" y="11938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上位</a:t>
            </a:r>
            <a:r>
              <a:rPr kumimoji="1" lang="en-US" altLang="ja-JP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20</a:t>
            </a:r>
            <a:r>
              <a:rPr kumimoji="1" lang="ja-JP" altLang="en-US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件すべてに</a:t>
            </a:r>
            <a:r>
              <a:rPr kumimoji="1" lang="en-US" altLang="ja-JP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Lens</a:t>
            </a:r>
            <a:r>
              <a:rPr kumimoji="1" lang="ja-JP" altLang="en-US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固有の個別</a:t>
            </a:r>
            <a:r>
              <a:rPr kumimoji="1" lang="en-US" altLang="ja-JP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HTML</a:t>
            </a:r>
            <a:r>
              <a:rPr kumimoji="1" lang="ja-JP" altLang="en-US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。表紙は</a:t>
            </a:r>
            <a:r>
              <a:rPr kumimoji="1" lang="en-US" altLang="ja-JP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r>
              <a:rPr kumimoji="1" lang="ja-JP" altLang="en-US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～</a:t>
            </a:r>
            <a:r>
              <a:rPr kumimoji="1" lang="en-US" altLang="ja-JP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10</a:t>
            </a:r>
            <a:r>
              <a:rPr kumimoji="1" lang="ja-JP" altLang="en-US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位を詳述、</a:t>
            </a:r>
            <a:r>
              <a:rPr kumimoji="1" lang="en-US" altLang="ja-JP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11</a:t>
            </a:r>
            <a:r>
              <a:rPr kumimoji="1" lang="ja-JP" altLang="en-US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～</a:t>
            </a:r>
            <a:r>
              <a:rPr kumimoji="1" lang="en-US" altLang="ja-JP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20</a:t>
            </a:r>
            <a:r>
              <a:rPr kumimoji="1" lang="ja-JP" altLang="en-US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位はタイトルのみ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8F609D9-2DC6-075F-FD35-07BFBD14A23E}"/>
              </a:ext>
            </a:extLst>
          </p:cNvPr>
          <p:cNvCxnSpPr/>
          <p:nvPr/>
        </p:nvCxnSpPr>
        <p:spPr>
          <a:xfrm>
            <a:off x="533400" y="1625600"/>
            <a:ext cx="11125200" cy="0"/>
          </a:xfrm>
          <a:prstGeom prst="line">
            <a:avLst/>
          </a:prstGeom>
          <a:ln w="15875">
            <a:solidFill>
              <a:srgbClr val="CF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7466407B-EACD-2C7D-BCEE-CDD261540717}"/>
              </a:ext>
            </a:extLst>
          </p:cNvPr>
          <p:cNvSpPr/>
          <p:nvPr/>
        </p:nvSpPr>
        <p:spPr>
          <a:xfrm>
            <a:off x="533400" y="1917700"/>
            <a:ext cx="5321300" cy="414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A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2AB3CA8-DD9D-2AFE-EF20-5A8A7E15197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2019300"/>
            <a:ext cx="5118100" cy="3200400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4E72D96-F185-87D3-6C3C-5A8C2CE0AB97}"/>
              </a:ext>
            </a:extLst>
          </p:cNvPr>
          <p:cNvSpPr txBox="1"/>
          <p:nvPr/>
        </p:nvSpPr>
        <p:spPr>
          <a:xfrm>
            <a:off x="787400" y="5334000"/>
            <a:ext cx="48133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1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全体 </a:t>
            </a:r>
            <a:r>
              <a:rPr kumimoji="1" lang="en-US" altLang="ja-JP" sz="11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report.html</a:t>
            </a:r>
          </a:p>
          <a:p>
            <a:pPr algn="ctr"/>
            <a:r>
              <a:rPr kumimoji="1" lang="ja-JP" altLang="en-US" sz="11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重要度、</a:t>
            </a:r>
            <a:r>
              <a:rPr kumimoji="1" lang="en-US" altLang="ja-JP" sz="11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Lens</a:t>
            </a:r>
            <a:r>
              <a:rPr kumimoji="1" lang="ja-JP" altLang="en-US" sz="11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構成、</a:t>
            </a:r>
            <a:r>
              <a:rPr kumimoji="1" lang="en-US" altLang="ja-JP" sz="11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component</a:t>
            </a:r>
            <a:r>
              <a:rPr kumimoji="1" lang="ja-JP" altLang="en-US" sz="11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、監査付録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E107F97-2FAA-899C-28C3-5E349EABE774}"/>
              </a:ext>
            </a:extLst>
          </p:cNvPr>
          <p:cNvSpPr/>
          <p:nvPr/>
        </p:nvSpPr>
        <p:spPr>
          <a:xfrm>
            <a:off x="6337300" y="1917700"/>
            <a:ext cx="5321300" cy="414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A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EEBD5619-D381-B7F2-0B61-5ABF9D53D0A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900" y="2019300"/>
            <a:ext cx="5118100" cy="32004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2D7A11D-7B43-71E9-6BF4-801E1142DFC7}"/>
              </a:ext>
            </a:extLst>
          </p:cNvPr>
          <p:cNvSpPr txBox="1"/>
          <p:nvPr/>
        </p:nvSpPr>
        <p:spPr>
          <a:xfrm>
            <a:off x="6591300" y="5334000"/>
            <a:ext cx="48133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1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個別 </a:t>
            </a:r>
            <a:r>
              <a:rPr kumimoji="1" lang="en-US" altLang="ja-JP" sz="11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finding_reports/*.html</a:t>
            </a:r>
          </a:p>
          <a:p>
            <a:pPr algn="ctr"/>
            <a:r>
              <a:rPr kumimoji="1" lang="ja-JP" altLang="en-US" sz="11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構造図、統計、</a:t>
            </a:r>
            <a:r>
              <a:rPr kumimoji="1" lang="en-US" altLang="ja-JP" sz="11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deep dive</a:t>
            </a:r>
            <a:r>
              <a:rPr kumimoji="1" lang="ja-JP" altLang="en-US" sz="11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、反証、</a:t>
            </a:r>
            <a:r>
              <a:rPr kumimoji="1" lang="en-US" altLang="ja-JP" sz="11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Evidence</a:t>
            </a:r>
            <a:endParaRPr kumimoji="1" lang="ja-JP" altLang="en-US" sz="1100" b="1">
              <a:solidFill>
                <a:srgbClr val="1C263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6DBAD78-69A9-C33F-9DA2-99738CD578CA}"/>
              </a:ext>
            </a:extLst>
          </p:cNvPr>
          <p:cNvSpPr txBox="1"/>
          <p:nvPr/>
        </p:nvSpPr>
        <p:spPr>
          <a:xfrm>
            <a:off x="533400" y="65532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8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CONDUCTOR 0.2.1  |  2026-09-29</a:t>
            </a:r>
            <a:endParaRPr kumimoji="1" lang="ja-JP" altLang="en-US" sz="800">
              <a:solidFill>
                <a:srgbClr val="566675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520CC1F-A00F-3373-9475-B3FA59E26C60}"/>
              </a:ext>
            </a:extLst>
          </p:cNvPr>
          <p:cNvSpPr txBox="1"/>
          <p:nvPr/>
        </p:nvSpPr>
        <p:spPr>
          <a:xfrm>
            <a:off x="11176000" y="65532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8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6</a:t>
            </a:r>
            <a:endParaRPr kumimoji="1" lang="ja-JP" altLang="en-US" sz="800">
              <a:solidFill>
                <a:srgbClr val="566675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1959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A4013CC-5405-ECCA-10E2-41F3393FAD64}"/>
              </a:ext>
            </a:extLst>
          </p:cNvPr>
          <p:cNvSpPr txBox="1"/>
          <p:nvPr/>
        </p:nvSpPr>
        <p:spPr>
          <a:xfrm>
            <a:off x="533400" y="2794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1F9DB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07 / 08</a:t>
            </a:r>
            <a:endParaRPr kumimoji="1" lang="ja-JP" altLang="en-US" sz="1100" b="1">
              <a:solidFill>
                <a:srgbClr val="1F9DB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3C2390D-1EF3-59E2-EA12-A868FD6D57F5}"/>
              </a:ext>
            </a:extLst>
          </p:cNvPr>
          <p:cNvSpPr txBox="1"/>
          <p:nvPr/>
        </p:nvSpPr>
        <p:spPr>
          <a:xfrm>
            <a:off x="533400" y="596900"/>
            <a:ext cx="11049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28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Fail-closed</a:t>
            </a:r>
            <a:r>
              <a:rPr kumimoji="1" lang="ja-JP" altLang="en-US" sz="28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で監査可能な</a:t>
            </a:r>
            <a:r>
              <a:rPr kumimoji="1" lang="en-US" altLang="ja-JP" sz="28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Run</a:t>
            </a:r>
            <a:r>
              <a:rPr kumimoji="1" lang="ja-JP" altLang="en-US" sz="28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を作る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932C432-D2D3-E0E8-8DEC-9099D47C1FCD}"/>
              </a:ext>
            </a:extLst>
          </p:cNvPr>
          <p:cNvSpPr txBox="1"/>
          <p:nvPr/>
        </p:nvSpPr>
        <p:spPr>
          <a:xfrm>
            <a:off x="558800" y="11938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停止は失敗ではなく、入力・設計・証拠の不整合を隠さないための制御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074D8D6-6F4C-169C-9387-E40FF5944260}"/>
              </a:ext>
            </a:extLst>
          </p:cNvPr>
          <p:cNvCxnSpPr/>
          <p:nvPr/>
        </p:nvCxnSpPr>
        <p:spPr>
          <a:xfrm>
            <a:off x="533400" y="1625600"/>
            <a:ext cx="11125200" cy="0"/>
          </a:xfrm>
          <a:prstGeom prst="line">
            <a:avLst/>
          </a:prstGeom>
          <a:ln w="15875">
            <a:solidFill>
              <a:srgbClr val="CF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92225277-CA24-A52A-F4AB-D1EC570F28FE}"/>
              </a:ext>
            </a:extLst>
          </p:cNvPr>
          <p:cNvSpPr/>
          <p:nvPr/>
        </p:nvSpPr>
        <p:spPr>
          <a:xfrm>
            <a:off x="533400" y="2286000"/>
            <a:ext cx="1981200" cy="1803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C6F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EBFFF6B-901D-8418-EBD0-C298DCE5C571}"/>
              </a:ext>
            </a:extLst>
          </p:cNvPr>
          <p:cNvSpPr txBox="1"/>
          <p:nvPr/>
        </p:nvSpPr>
        <p:spPr>
          <a:xfrm>
            <a:off x="711200" y="2489200"/>
            <a:ext cx="38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500" b="1">
                <a:solidFill>
                  <a:srgbClr val="1C6FB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endParaRPr kumimoji="1" lang="ja-JP" altLang="en-US" sz="1500" b="1">
              <a:solidFill>
                <a:srgbClr val="1C6FB8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5F7190E-3F6D-22DA-8058-1D0BFA5DE6C4}"/>
              </a:ext>
            </a:extLst>
          </p:cNvPr>
          <p:cNvSpPr txBox="1"/>
          <p:nvPr/>
        </p:nvSpPr>
        <p:spPr>
          <a:xfrm>
            <a:off x="711200" y="2895600"/>
            <a:ext cx="1625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5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Preflight</a:t>
            </a:r>
            <a:endParaRPr kumimoji="1" lang="ja-JP" altLang="en-US" sz="1500" b="1">
              <a:solidFill>
                <a:srgbClr val="0D2750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1A6DCEC-5EAE-DEEE-D95B-F14403746DA0}"/>
              </a:ext>
            </a:extLst>
          </p:cNvPr>
          <p:cNvSpPr txBox="1"/>
          <p:nvPr/>
        </p:nvSpPr>
        <p:spPr>
          <a:xfrm>
            <a:off x="711200" y="3365500"/>
            <a:ext cx="1625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0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入力・</a:t>
            </a:r>
            <a:r>
              <a:rPr kumimoji="1" lang="en-US" altLang="ja-JP" sz="10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domain</a:t>
            </a:r>
            <a:r>
              <a:rPr kumimoji="1" lang="ja-JP" altLang="en-US" sz="10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</a:t>
            </a:r>
            <a:r>
              <a:rPr kumimoji="1" lang="en-US" altLang="ja-JP" sz="10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DB</a:t>
            </a:r>
            <a:r>
              <a:rPr kumimoji="1" lang="ja-JP" altLang="en-US" sz="10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</a:t>
            </a:r>
            <a:r>
              <a:rPr kumimoji="1" lang="en-US" altLang="ja-JP" sz="10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provider</a:t>
            </a:r>
            <a:endParaRPr kumimoji="1" lang="ja-JP" altLang="en-US" sz="1000">
              <a:solidFill>
                <a:srgbClr val="1C263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5947C354-252B-873F-CB85-A6550E5A3585}"/>
              </a:ext>
            </a:extLst>
          </p:cNvPr>
          <p:cNvCxnSpPr/>
          <p:nvPr/>
        </p:nvCxnSpPr>
        <p:spPr>
          <a:xfrm>
            <a:off x="2514600" y="3175000"/>
            <a:ext cx="228600" cy="0"/>
          </a:xfrm>
          <a:prstGeom prst="line">
            <a:avLst/>
          </a:prstGeom>
          <a:ln w="31750">
            <a:solidFill>
              <a:srgbClr val="56667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D01556F2-96E1-14D3-C75F-D74C941298D1}"/>
              </a:ext>
            </a:extLst>
          </p:cNvPr>
          <p:cNvSpPr/>
          <p:nvPr/>
        </p:nvSpPr>
        <p:spPr>
          <a:xfrm>
            <a:off x="2768600" y="2286000"/>
            <a:ext cx="1981200" cy="1803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9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8215B63-79DA-A5EE-E1F9-327C76EE4DCC}"/>
              </a:ext>
            </a:extLst>
          </p:cNvPr>
          <p:cNvSpPr txBox="1"/>
          <p:nvPr/>
        </p:nvSpPr>
        <p:spPr>
          <a:xfrm>
            <a:off x="2946400" y="2489200"/>
            <a:ext cx="38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500" b="1">
                <a:solidFill>
                  <a:srgbClr val="1F9DB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endParaRPr kumimoji="1" lang="ja-JP" altLang="en-US" sz="1500" b="1">
              <a:solidFill>
                <a:srgbClr val="1F9DB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105FEFE-3C2D-7237-AA63-D0669D7B0ED1}"/>
              </a:ext>
            </a:extLst>
          </p:cNvPr>
          <p:cNvSpPr txBox="1"/>
          <p:nvPr/>
        </p:nvSpPr>
        <p:spPr>
          <a:xfrm>
            <a:off x="2946400" y="2895600"/>
            <a:ext cx="1625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5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Runtime</a:t>
            </a:r>
            <a:endParaRPr kumimoji="1" lang="ja-JP" altLang="en-US" sz="1500" b="1">
              <a:solidFill>
                <a:srgbClr val="0D2750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88DE45D-DFFC-6CB9-81B7-2DB157661ED2}"/>
              </a:ext>
            </a:extLst>
          </p:cNvPr>
          <p:cNvSpPr txBox="1"/>
          <p:nvPr/>
        </p:nvSpPr>
        <p:spPr>
          <a:xfrm>
            <a:off x="2946400" y="3365500"/>
            <a:ext cx="1625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0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DAG</a:t>
            </a:r>
            <a:r>
              <a:rPr kumimoji="1" lang="ja-JP" altLang="en-US" sz="10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</a:t>
            </a:r>
            <a:r>
              <a:rPr kumimoji="1" lang="en-US" altLang="ja-JP" sz="10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lease</a:t>
            </a:r>
            <a:r>
              <a:rPr kumimoji="1" lang="ja-JP" altLang="en-US" sz="10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</a:t>
            </a:r>
            <a:r>
              <a:rPr kumimoji="1" lang="en-US" altLang="ja-JP" sz="10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retry</a:t>
            </a:r>
            <a:r>
              <a:rPr kumimoji="1" lang="ja-JP" altLang="en-US" sz="10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</a:t>
            </a:r>
            <a:r>
              <a:rPr kumimoji="1" lang="en-US" altLang="ja-JP" sz="10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single writer</a:t>
            </a:r>
            <a:endParaRPr kumimoji="1" lang="ja-JP" altLang="en-US" sz="1000">
              <a:solidFill>
                <a:srgbClr val="1C263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DB43515D-1EBC-D03A-3896-A706F0311ED0}"/>
              </a:ext>
            </a:extLst>
          </p:cNvPr>
          <p:cNvCxnSpPr/>
          <p:nvPr/>
        </p:nvCxnSpPr>
        <p:spPr>
          <a:xfrm>
            <a:off x="4749800" y="3175000"/>
            <a:ext cx="228600" cy="0"/>
          </a:xfrm>
          <a:prstGeom prst="line">
            <a:avLst/>
          </a:prstGeom>
          <a:ln w="31750">
            <a:solidFill>
              <a:srgbClr val="56667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FD42B3EA-B009-03BB-5947-7829EC86BE2B}"/>
              </a:ext>
            </a:extLst>
          </p:cNvPr>
          <p:cNvSpPr/>
          <p:nvPr/>
        </p:nvSpPr>
        <p:spPr>
          <a:xfrm>
            <a:off x="5003800" y="2286000"/>
            <a:ext cx="1981200" cy="1803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097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73816B7-86CA-CB41-96EE-227BCCA54DC6}"/>
              </a:ext>
            </a:extLst>
          </p:cNvPr>
          <p:cNvSpPr txBox="1"/>
          <p:nvPr/>
        </p:nvSpPr>
        <p:spPr>
          <a:xfrm>
            <a:off x="5181600" y="2489200"/>
            <a:ext cx="38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500" b="1">
                <a:solidFill>
                  <a:srgbClr val="20975E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endParaRPr kumimoji="1" lang="ja-JP" altLang="en-US" sz="1500" b="1">
              <a:solidFill>
                <a:srgbClr val="20975E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6D8B68D-7808-2F4E-93DA-E67D1206846A}"/>
              </a:ext>
            </a:extLst>
          </p:cNvPr>
          <p:cNvSpPr txBox="1"/>
          <p:nvPr/>
        </p:nvSpPr>
        <p:spPr>
          <a:xfrm>
            <a:off x="5181600" y="2895600"/>
            <a:ext cx="1625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5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Artifact</a:t>
            </a:r>
            <a:endParaRPr kumimoji="1" lang="ja-JP" altLang="en-US" sz="1500" b="1">
              <a:solidFill>
                <a:srgbClr val="0D2750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96CEAFF-DEDE-E043-5B4D-FB04C354291F}"/>
              </a:ext>
            </a:extLst>
          </p:cNvPr>
          <p:cNvSpPr txBox="1"/>
          <p:nvPr/>
        </p:nvSpPr>
        <p:spPr>
          <a:xfrm>
            <a:off x="5181600" y="3365500"/>
            <a:ext cx="1625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0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入力</a:t>
            </a:r>
            <a:r>
              <a:rPr kumimoji="1" lang="en-US" altLang="ja-JP" sz="10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hash</a:t>
            </a:r>
            <a:r>
              <a:rPr kumimoji="1" lang="ja-JP" altLang="en-US" sz="10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・出力</a:t>
            </a:r>
            <a:r>
              <a:rPr kumimoji="1" lang="en-US" altLang="ja-JP" sz="10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hash</a:t>
            </a:r>
            <a:r>
              <a:rPr kumimoji="1" lang="ja-JP" altLang="en-US" sz="10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</a:t>
            </a:r>
            <a:r>
              <a:rPr kumimoji="1" lang="en-US" altLang="ja-JP" sz="10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manifest</a:t>
            </a:r>
            <a:endParaRPr kumimoji="1" lang="ja-JP" altLang="en-US" sz="1000">
              <a:solidFill>
                <a:srgbClr val="1C263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B0357C37-BB2E-93F1-6934-FB9EC351EF7E}"/>
              </a:ext>
            </a:extLst>
          </p:cNvPr>
          <p:cNvCxnSpPr/>
          <p:nvPr/>
        </p:nvCxnSpPr>
        <p:spPr>
          <a:xfrm>
            <a:off x="6985000" y="3175000"/>
            <a:ext cx="228600" cy="0"/>
          </a:xfrm>
          <a:prstGeom prst="line">
            <a:avLst/>
          </a:prstGeom>
          <a:ln w="31750">
            <a:solidFill>
              <a:srgbClr val="56667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4E638C45-D449-D7ED-FCB7-9BFF2CE2D78B}"/>
              </a:ext>
            </a:extLst>
          </p:cNvPr>
          <p:cNvSpPr/>
          <p:nvPr/>
        </p:nvSpPr>
        <p:spPr>
          <a:xfrm>
            <a:off x="7239000" y="2286000"/>
            <a:ext cx="1981200" cy="1803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984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21EAD9C-4371-3432-F359-8A12F47D76E4}"/>
              </a:ext>
            </a:extLst>
          </p:cNvPr>
          <p:cNvSpPr txBox="1"/>
          <p:nvPr/>
        </p:nvSpPr>
        <p:spPr>
          <a:xfrm>
            <a:off x="7416800" y="2489200"/>
            <a:ext cx="38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500" b="1">
                <a:solidFill>
                  <a:srgbClr val="E9842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</a:t>
            </a:r>
            <a:endParaRPr kumimoji="1" lang="ja-JP" altLang="en-US" sz="1500" b="1">
              <a:solidFill>
                <a:srgbClr val="E98423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4F7CD99-3897-CD35-4492-3AEBF29BEEA2}"/>
              </a:ext>
            </a:extLst>
          </p:cNvPr>
          <p:cNvSpPr txBox="1"/>
          <p:nvPr/>
        </p:nvSpPr>
        <p:spPr>
          <a:xfrm>
            <a:off x="7416800" y="2895600"/>
            <a:ext cx="1625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5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Statistics</a:t>
            </a:r>
            <a:endParaRPr kumimoji="1" lang="ja-JP" altLang="en-US" sz="1500" b="1">
              <a:solidFill>
                <a:srgbClr val="0D2750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D9571AA-C68F-B9E9-3B54-01E9CC9FA104}"/>
              </a:ext>
            </a:extLst>
          </p:cNvPr>
          <p:cNvSpPr txBox="1"/>
          <p:nvPr/>
        </p:nvSpPr>
        <p:spPr>
          <a:xfrm>
            <a:off x="7416800" y="3365500"/>
            <a:ext cx="162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0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固定</a:t>
            </a:r>
            <a:r>
              <a:rPr kumimoji="1" lang="en-US" altLang="ja-JP" sz="10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seed</a:t>
            </a:r>
            <a:r>
              <a:rPr kumimoji="1" lang="ja-JP" altLang="en-US" sz="10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・多重性・</a:t>
            </a:r>
            <a:r>
              <a:rPr kumimoji="1" lang="en-US" altLang="ja-JP" sz="10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guard</a:t>
            </a:r>
            <a:endParaRPr kumimoji="1" lang="ja-JP" altLang="en-US" sz="1000">
              <a:solidFill>
                <a:srgbClr val="1C263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9CE646CD-DCD4-124D-454F-01EF979F625C}"/>
              </a:ext>
            </a:extLst>
          </p:cNvPr>
          <p:cNvCxnSpPr/>
          <p:nvPr/>
        </p:nvCxnSpPr>
        <p:spPr>
          <a:xfrm>
            <a:off x="9220200" y="3175000"/>
            <a:ext cx="228600" cy="0"/>
          </a:xfrm>
          <a:prstGeom prst="line">
            <a:avLst/>
          </a:prstGeom>
          <a:ln w="31750">
            <a:solidFill>
              <a:srgbClr val="56667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89125BDF-282C-F2BF-4806-E9F150CF0C5E}"/>
              </a:ext>
            </a:extLst>
          </p:cNvPr>
          <p:cNvSpPr/>
          <p:nvPr/>
        </p:nvSpPr>
        <p:spPr>
          <a:xfrm>
            <a:off x="9474200" y="2286000"/>
            <a:ext cx="1981200" cy="1803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637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A476E1E-51CB-5B68-52BB-1FD600A6C358}"/>
              </a:ext>
            </a:extLst>
          </p:cNvPr>
          <p:cNvSpPr txBox="1"/>
          <p:nvPr/>
        </p:nvSpPr>
        <p:spPr>
          <a:xfrm>
            <a:off x="9652000" y="2489200"/>
            <a:ext cx="38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500" b="1">
                <a:solidFill>
                  <a:srgbClr val="C6374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</a:t>
            </a:r>
            <a:endParaRPr kumimoji="1" lang="ja-JP" altLang="en-US" sz="1500" b="1">
              <a:solidFill>
                <a:srgbClr val="C6374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B68B765-1607-93A9-3662-98AA95237178}"/>
              </a:ext>
            </a:extLst>
          </p:cNvPr>
          <p:cNvSpPr txBox="1"/>
          <p:nvPr/>
        </p:nvSpPr>
        <p:spPr>
          <a:xfrm>
            <a:off x="9652000" y="2895600"/>
            <a:ext cx="1625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5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Citation</a:t>
            </a:r>
            <a:endParaRPr kumimoji="1" lang="ja-JP" altLang="en-US" sz="1500" b="1">
              <a:solidFill>
                <a:srgbClr val="0D2750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B8C9D88-A111-F295-0E68-E866C1491F3A}"/>
              </a:ext>
            </a:extLst>
          </p:cNvPr>
          <p:cNvSpPr txBox="1"/>
          <p:nvPr/>
        </p:nvSpPr>
        <p:spPr>
          <a:xfrm>
            <a:off x="9652000" y="3365500"/>
            <a:ext cx="162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0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数値・</a:t>
            </a:r>
            <a:r>
              <a:rPr kumimoji="1" lang="en-US" altLang="ja-JP" sz="10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ID</a:t>
            </a:r>
            <a:r>
              <a:rPr kumimoji="1" lang="ja-JP" altLang="en-US" sz="10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</a:t>
            </a:r>
            <a:r>
              <a:rPr kumimoji="1" lang="en-US" altLang="ja-JP" sz="10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row</a:t>
            </a:r>
            <a:r>
              <a:rPr kumimoji="1" lang="ja-JP" altLang="en-US" sz="10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を再照合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4CD8A8CF-031D-9B33-6C6B-6EECD3846FFA}"/>
              </a:ext>
            </a:extLst>
          </p:cNvPr>
          <p:cNvSpPr/>
          <p:nvPr/>
        </p:nvSpPr>
        <p:spPr>
          <a:xfrm>
            <a:off x="939800" y="4521200"/>
            <a:ext cx="3098800" cy="965200"/>
          </a:xfrm>
          <a:prstGeom prst="roundRect">
            <a:avLst/>
          </a:prstGeom>
          <a:solidFill>
            <a:srgbClr val="E6F6ED"/>
          </a:solidFill>
          <a:ln w="15875">
            <a:solidFill>
              <a:srgbClr val="2097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03A178F-893B-3409-269D-A1B9741BE9CA}"/>
              </a:ext>
            </a:extLst>
          </p:cNvPr>
          <p:cNvSpPr txBox="1"/>
          <p:nvPr/>
        </p:nvSpPr>
        <p:spPr>
          <a:xfrm>
            <a:off x="1168400" y="4724400"/>
            <a:ext cx="2641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600" b="1">
                <a:solidFill>
                  <a:srgbClr val="20975E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succeeded</a:t>
            </a:r>
            <a:endParaRPr kumimoji="1" lang="ja-JP" altLang="en-US" sz="1600" b="1">
              <a:solidFill>
                <a:srgbClr val="20975E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5831910B-87E3-5FEC-A3B4-92EC2C60B237}"/>
              </a:ext>
            </a:extLst>
          </p:cNvPr>
          <p:cNvSpPr txBox="1"/>
          <p:nvPr/>
        </p:nvSpPr>
        <p:spPr>
          <a:xfrm>
            <a:off x="1168400" y="5054600"/>
            <a:ext cx="2641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検証済み成果物を受入</a:t>
            </a: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F28C4E0C-22E5-C44C-9DDE-F76FF7BA5867}"/>
              </a:ext>
            </a:extLst>
          </p:cNvPr>
          <p:cNvSpPr/>
          <p:nvPr/>
        </p:nvSpPr>
        <p:spPr>
          <a:xfrm>
            <a:off x="4546600" y="4521200"/>
            <a:ext cx="3098800" cy="965200"/>
          </a:xfrm>
          <a:prstGeom prst="roundRect">
            <a:avLst/>
          </a:prstGeom>
          <a:solidFill>
            <a:srgbClr val="FFF3E1"/>
          </a:solidFill>
          <a:ln w="15875">
            <a:solidFill>
              <a:srgbClr val="E984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4B673DB5-8116-A3F5-9518-907A26AC3661}"/>
              </a:ext>
            </a:extLst>
          </p:cNvPr>
          <p:cNvSpPr txBox="1"/>
          <p:nvPr/>
        </p:nvSpPr>
        <p:spPr>
          <a:xfrm>
            <a:off x="4775200" y="4724400"/>
            <a:ext cx="2641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400" b="1">
                <a:solidFill>
                  <a:srgbClr val="E98423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needs_design_review</a:t>
            </a:r>
            <a:endParaRPr kumimoji="1" lang="ja-JP" altLang="en-US" sz="1400" b="1">
              <a:solidFill>
                <a:srgbClr val="E98423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11C60988-BD1E-BD39-2616-1CE77ADD7560}"/>
              </a:ext>
            </a:extLst>
          </p:cNvPr>
          <p:cNvSpPr txBox="1"/>
          <p:nvPr/>
        </p:nvSpPr>
        <p:spPr>
          <a:xfrm>
            <a:off x="4775200" y="5054600"/>
            <a:ext cx="2641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人間判断まで停止</a:t>
            </a: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1BDB0ABA-D564-3554-67CB-539C241193E6}"/>
              </a:ext>
            </a:extLst>
          </p:cNvPr>
          <p:cNvSpPr/>
          <p:nvPr/>
        </p:nvSpPr>
        <p:spPr>
          <a:xfrm>
            <a:off x="8153400" y="4521200"/>
            <a:ext cx="3098800" cy="965200"/>
          </a:xfrm>
          <a:prstGeom prst="roundRect">
            <a:avLst/>
          </a:prstGeom>
          <a:solidFill>
            <a:srgbClr val="FFEBED"/>
          </a:solidFill>
          <a:ln w="15875">
            <a:solidFill>
              <a:srgbClr val="C637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0C0AB57B-67A7-DFE5-9BB7-5EED4A825EE3}"/>
              </a:ext>
            </a:extLst>
          </p:cNvPr>
          <p:cNvSpPr txBox="1"/>
          <p:nvPr/>
        </p:nvSpPr>
        <p:spPr>
          <a:xfrm>
            <a:off x="8382000" y="4724400"/>
            <a:ext cx="2641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600" b="1">
                <a:solidFill>
                  <a:srgbClr val="C6374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failed</a:t>
            </a:r>
            <a:endParaRPr kumimoji="1" lang="ja-JP" altLang="en-US" sz="1600" b="1">
              <a:solidFill>
                <a:srgbClr val="C6374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D5F13FE-4629-8D80-9763-FDC07408A25D}"/>
              </a:ext>
            </a:extLst>
          </p:cNvPr>
          <p:cNvSpPr txBox="1"/>
          <p:nvPr/>
        </p:nvSpPr>
        <p:spPr>
          <a:xfrm>
            <a:off x="8382000" y="5054600"/>
            <a:ext cx="2641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原因を分類し最小復旧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863308FD-8E6A-C805-7995-B3ACAEB887B0}"/>
              </a:ext>
            </a:extLst>
          </p:cNvPr>
          <p:cNvSpPr txBox="1"/>
          <p:nvPr/>
        </p:nvSpPr>
        <p:spPr>
          <a:xfrm>
            <a:off x="1955800" y="5816600"/>
            <a:ext cx="825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2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3D</a:t>
            </a:r>
            <a:r>
              <a:rPr kumimoji="1" lang="ja-JP" altLang="en-US" sz="12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生成不能は理由付き</a:t>
            </a:r>
            <a:r>
              <a:rPr kumimoji="1" lang="en-US" altLang="ja-JP" sz="12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terminal SKIP</a:t>
            </a:r>
            <a:r>
              <a:rPr kumimoji="1" lang="ja-JP" altLang="en-US" sz="12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として</a:t>
            </a:r>
            <a:r>
              <a:rPr kumimoji="1" lang="en-US" altLang="ja-JP" sz="12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DB</a:t>
            </a:r>
            <a:r>
              <a:rPr kumimoji="1" lang="ja-JP" altLang="en-US" sz="12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へ記録し、解析可能な母集団で継続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B2332E9C-9D75-4FDB-9560-B195DE0810D1}"/>
              </a:ext>
            </a:extLst>
          </p:cNvPr>
          <p:cNvSpPr txBox="1"/>
          <p:nvPr/>
        </p:nvSpPr>
        <p:spPr>
          <a:xfrm>
            <a:off x="533400" y="65532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8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CONDUCTOR 0.2.1  |  2026-09-29</a:t>
            </a:r>
            <a:endParaRPr kumimoji="1" lang="ja-JP" altLang="en-US" sz="800">
              <a:solidFill>
                <a:srgbClr val="566675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A6222DC6-4806-6B69-4A1E-9B29A3F5CAE5}"/>
              </a:ext>
            </a:extLst>
          </p:cNvPr>
          <p:cNvSpPr txBox="1"/>
          <p:nvPr/>
        </p:nvSpPr>
        <p:spPr>
          <a:xfrm>
            <a:off x="11176000" y="65532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8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7</a:t>
            </a:r>
            <a:endParaRPr kumimoji="1" lang="ja-JP" altLang="en-US" sz="800">
              <a:solidFill>
                <a:srgbClr val="566675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67811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260D3F3-054C-8B6F-F1A2-5CA05E4E47E8}"/>
              </a:ext>
            </a:extLst>
          </p:cNvPr>
          <p:cNvSpPr txBox="1"/>
          <p:nvPr/>
        </p:nvSpPr>
        <p:spPr>
          <a:xfrm>
            <a:off x="533400" y="2794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1F9DB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08 / 08</a:t>
            </a:r>
            <a:endParaRPr kumimoji="1" lang="ja-JP" altLang="en-US" sz="1100" b="1">
              <a:solidFill>
                <a:srgbClr val="1F9DB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1968DAA-AD3A-628B-891F-B8C520AE6252}"/>
              </a:ext>
            </a:extLst>
          </p:cNvPr>
          <p:cNvSpPr txBox="1"/>
          <p:nvPr/>
        </p:nvSpPr>
        <p:spPr>
          <a:xfrm>
            <a:off x="533400" y="596900"/>
            <a:ext cx="11049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0D27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運用で得られるもの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2D1AA00-B4E0-C878-E30B-48BD6F6F16D2}"/>
              </a:ext>
            </a:extLst>
          </p:cNvPr>
          <p:cNvSpPr txBox="1"/>
          <p:nvPr/>
        </p:nvSpPr>
        <p:spPr>
          <a:xfrm>
            <a:off x="558800" y="11938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Run</a:t>
            </a:r>
            <a:r>
              <a:rPr kumimoji="1" lang="ja-JP" altLang="en-US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を保存し、構造資産を再利用しながら別</a:t>
            </a:r>
            <a:r>
              <a:rPr kumimoji="1" lang="en-US" altLang="ja-JP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Endpoint</a:t>
            </a:r>
            <a:r>
              <a:rPr kumimoji="1" lang="ja-JP" altLang="en-US" sz="12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へ展開する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D933A0ED-DEB9-B556-09E9-8EDA5D4511CF}"/>
              </a:ext>
            </a:extLst>
          </p:cNvPr>
          <p:cNvCxnSpPr/>
          <p:nvPr/>
        </p:nvCxnSpPr>
        <p:spPr>
          <a:xfrm>
            <a:off x="533400" y="1625600"/>
            <a:ext cx="11125200" cy="0"/>
          </a:xfrm>
          <a:prstGeom prst="line">
            <a:avLst/>
          </a:prstGeom>
          <a:ln w="15875">
            <a:solidFill>
              <a:srgbClr val="CF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3BBEED4E-005C-001C-68BB-D10183D48677}"/>
              </a:ext>
            </a:extLst>
          </p:cNvPr>
          <p:cNvSpPr/>
          <p:nvPr/>
        </p:nvSpPr>
        <p:spPr>
          <a:xfrm>
            <a:off x="533400" y="1968500"/>
            <a:ext cx="5207000" cy="3937000"/>
          </a:xfrm>
          <a:prstGeom prst="roundRect">
            <a:avLst/>
          </a:prstGeom>
          <a:solidFill>
            <a:srgbClr val="E7F3FA"/>
          </a:solidFill>
          <a:ln w="15875">
            <a:solidFill>
              <a:srgbClr val="1C6F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0D92BE1-B0D3-5FF4-3E80-4E3642928C54}"/>
              </a:ext>
            </a:extLst>
          </p:cNvPr>
          <p:cNvSpPr txBox="1"/>
          <p:nvPr/>
        </p:nvSpPr>
        <p:spPr>
          <a:xfrm>
            <a:off x="838200" y="22352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1C6FB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利用者の流れ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080A3636-710D-5A9D-3DD4-0EF9F54E7818}"/>
              </a:ext>
            </a:extLst>
          </p:cNvPr>
          <p:cNvSpPr/>
          <p:nvPr/>
        </p:nvSpPr>
        <p:spPr>
          <a:xfrm>
            <a:off x="889000" y="2794000"/>
            <a:ext cx="4445000" cy="4191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A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C6906A9-EBBA-543F-DD36-2EEE8B233CEF}"/>
              </a:ext>
            </a:extLst>
          </p:cNvPr>
          <p:cNvSpPr txBox="1"/>
          <p:nvPr/>
        </p:nvSpPr>
        <p:spPr>
          <a:xfrm>
            <a:off x="1066800" y="2908300"/>
            <a:ext cx="406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  Run Spec</a:t>
            </a:r>
            <a:r>
              <a:rPr kumimoji="1" lang="ja-JP" altLang="en-US" sz="12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と入力を準備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478F63C5-7B22-83DB-64F6-921635FC9972}"/>
              </a:ext>
            </a:extLst>
          </p:cNvPr>
          <p:cNvSpPr/>
          <p:nvPr/>
        </p:nvSpPr>
        <p:spPr>
          <a:xfrm>
            <a:off x="889000" y="3365500"/>
            <a:ext cx="4445000" cy="4191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A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AB43913-B316-3463-3678-AB2C5EFD4E46}"/>
              </a:ext>
            </a:extLst>
          </p:cNvPr>
          <p:cNvSpPr txBox="1"/>
          <p:nvPr/>
        </p:nvSpPr>
        <p:spPr>
          <a:xfrm>
            <a:off x="1066800" y="3479800"/>
            <a:ext cx="406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  Preflight receipt</a:t>
            </a:r>
            <a:r>
              <a:rPr kumimoji="1" lang="ja-JP" altLang="en-US" sz="12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を取得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FF9CE7E3-2822-13EE-B69B-EC03C686F082}"/>
              </a:ext>
            </a:extLst>
          </p:cNvPr>
          <p:cNvSpPr/>
          <p:nvPr/>
        </p:nvSpPr>
        <p:spPr>
          <a:xfrm>
            <a:off x="889000" y="3937000"/>
            <a:ext cx="4445000" cy="4191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A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7E89168-1F7F-BCE7-1408-0AA420021BC4}"/>
              </a:ext>
            </a:extLst>
          </p:cNvPr>
          <p:cNvSpPr txBox="1"/>
          <p:nvPr/>
        </p:nvSpPr>
        <p:spPr>
          <a:xfrm>
            <a:off x="1066800" y="4051300"/>
            <a:ext cx="406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  </a:t>
            </a:r>
            <a:r>
              <a:rPr kumimoji="1" lang="ja-JP" altLang="en-US" sz="12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固定</a:t>
            </a:r>
            <a:r>
              <a:rPr kumimoji="1" lang="en-US" altLang="ja-JP" sz="12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DAG</a:t>
            </a:r>
            <a:r>
              <a:rPr kumimoji="1" lang="ja-JP" altLang="en-US" sz="12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で</a:t>
            </a:r>
            <a:r>
              <a:rPr kumimoji="1" lang="en-US" altLang="ja-JP" sz="12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Phase 1</a:t>
            </a:r>
            <a:r>
              <a:rPr kumimoji="1" lang="ja-JP" altLang="en-US" sz="12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～</a:t>
            </a:r>
            <a:r>
              <a:rPr kumimoji="1" lang="en-US" altLang="ja-JP" sz="12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6</a:t>
            </a:r>
            <a:endParaRPr kumimoji="1" lang="ja-JP" altLang="en-US" sz="1200" b="1">
              <a:solidFill>
                <a:srgbClr val="1C263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C18E9C8F-121C-D861-F0D1-C57A81FD3CA5}"/>
              </a:ext>
            </a:extLst>
          </p:cNvPr>
          <p:cNvSpPr/>
          <p:nvPr/>
        </p:nvSpPr>
        <p:spPr>
          <a:xfrm>
            <a:off x="889000" y="4508500"/>
            <a:ext cx="4445000" cy="4191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A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B0C87A9-4BDA-07EC-4CCD-936075EB265D}"/>
              </a:ext>
            </a:extLst>
          </p:cNvPr>
          <p:cNvSpPr txBox="1"/>
          <p:nvPr/>
        </p:nvSpPr>
        <p:spPr>
          <a:xfrm>
            <a:off x="1066800" y="4622800"/>
            <a:ext cx="406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  read-only</a:t>
            </a:r>
            <a:r>
              <a:rPr kumimoji="1" lang="ja-JP" altLang="en-US" sz="12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監査で正式受入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E6F2CBF4-291E-A356-AD41-B32D1C4A6635}"/>
              </a:ext>
            </a:extLst>
          </p:cNvPr>
          <p:cNvSpPr/>
          <p:nvPr/>
        </p:nvSpPr>
        <p:spPr>
          <a:xfrm>
            <a:off x="889000" y="5080000"/>
            <a:ext cx="4445000" cy="4191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A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38F65FB-BB77-2CB4-A3F2-75FB2AE3556A}"/>
              </a:ext>
            </a:extLst>
          </p:cNvPr>
          <p:cNvSpPr txBox="1"/>
          <p:nvPr/>
        </p:nvSpPr>
        <p:spPr>
          <a:xfrm>
            <a:off x="1066800" y="5194300"/>
            <a:ext cx="406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  HTML</a:t>
            </a:r>
            <a:r>
              <a:rPr kumimoji="1" lang="ja-JP" altLang="en-US" sz="1200" b="1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から追試候補を検討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E815EF81-FBD5-7671-A30F-358B9B6F64B9}"/>
              </a:ext>
            </a:extLst>
          </p:cNvPr>
          <p:cNvSpPr/>
          <p:nvPr/>
        </p:nvSpPr>
        <p:spPr>
          <a:xfrm>
            <a:off x="6197600" y="1968500"/>
            <a:ext cx="5461000" cy="3937000"/>
          </a:xfrm>
          <a:prstGeom prst="roundRect">
            <a:avLst/>
          </a:prstGeom>
          <a:solidFill>
            <a:srgbClr val="E6F6ED"/>
          </a:solidFill>
          <a:ln w="15875">
            <a:solidFill>
              <a:srgbClr val="2097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92F2589-7DC4-8EBA-C16E-B23E3DCCB825}"/>
              </a:ext>
            </a:extLst>
          </p:cNvPr>
          <p:cNvSpPr txBox="1"/>
          <p:nvPr/>
        </p:nvSpPr>
        <p:spPr>
          <a:xfrm>
            <a:off x="6502400" y="2235200"/>
            <a:ext cx="4851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b="1">
                <a:solidFill>
                  <a:srgbClr val="20975E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 Run</a:t>
            </a:r>
            <a:r>
              <a:rPr kumimoji="1" lang="ja-JP" altLang="en-US" b="1">
                <a:solidFill>
                  <a:srgbClr val="20975E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の成果物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34F0C86-2626-96D3-0EAE-97F75EC911C9}"/>
              </a:ext>
            </a:extLst>
          </p:cNvPr>
          <p:cNvSpPr txBox="1"/>
          <p:nvPr/>
        </p:nvSpPr>
        <p:spPr>
          <a:xfrm>
            <a:off x="6553200" y="2794000"/>
            <a:ext cx="2159000" cy="14003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runtime.sqlite</a:t>
            </a:r>
          </a:p>
          <a:p>
            <a:r>
              <a:rPr kumimoji="1" lang="en-US" altLang="ja-JP" sz="13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Execution Requests</a:t>
            </a:r>
          </a:p>
          <a:p>
            <a:r>
              <a:rPr kumimoji="1" lang="en-US" altLang="ja-JP" sz="13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Description audit</a:t>
            </a:r>
          </a:p>
          <a:p>
            <a:r>
              <a:rPr kumimoji="1" lang="en-US" altLang="ja-JP" sz="13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Finding + Evidence</a:t>
            </a:r>
          </a:p>
          <a:p>
            <a:r>
              <a:rPr kumimoji="1" lang="en-US" altLang="ja-JP" sz="13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Deep-dive tree</a:t>
            </a:r>
          </a:p>
          <a:p>
            <a:r>
              <a:rPr kumimoji="1" lang="en-US" altLang="ja-JP" sz="13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report.html</a:t>
            </a:r>
          </a:p>
          <a:p>
            <a:r>
              <a:rPr kumimoji="1" lang="ja-JP" altLang="en-US" sz="13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個別</a:t>
            </a:r>
            <a:r>
              <a:rPr kumimoji="1" lang="en-US" altLang="ja-JP" sz="13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HTML × Top20</a:t>
            </a:r>
            <a:endParaRPr kumimoji="1" lang="ja-JP" altLang="en-US" sz="1300">
              <a:solidFill>
                <a:srgbClr val="1C263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98B4902-AD80-7E48-8829-CAE94CFF029D}"/>
              </a:ext>
            </a:extLst>
          </p:cNvPr>
          <p:cNvSpPr txBox="1"/>
          <p:nvPr/>
        </p:nvSpPr>
        <p:spPr>
          <a:xfrm>
            <a:off x="9067800" y="2794000"/>
            <a:ext cx="2235200" cy="14003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3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入力</a:t>
            </a:r>
            <a:r>
              <a:rPr kumimoji="1" lang="en-US" altLang="ja-JP" sz="13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/config/code hash</a:t>
            </a:r>
          </a:p>
          <a:p>
            <a:r>
              <a:rPr kumimoji="1" lang="en-US" altLang="ja-JP" sz="13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Node attempt log</a:t>
            </a:r>
          </a:p>
          <a:p>
            <a:r>
              <a:rPr kumimoji="1" lang="en-US" altLang="ja-JP" sz="13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Lens telemetry</a:t>
            </a:r>
          </a:p>
          <a:p>
            <a:r>
              <a:rPr kumimoji="1" lang="en-US" altLang="ja-JP" sz="13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Citation validation</a:t>
            </a:r>
          </a:p>
          <a:p>
            <a:r>
              <a:rPr kumimoji="1" lang="en-US" altLang="ja-JP" sz="13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Artifact manifests</a:t>
            </a:r>
          </a:p>
          <a:p>
            <a:r>
              <a:rPr kumimoji="1" lang="en-US" altLang="ja-JP" sz="13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LLM failure ledger</a:t>
            </a:r>
          </a:p>
          <a:p>
            <a:r>
              <a:rPr kumimoji="1" lang="ja-JP" altLang="en-US" sz="1300">
                <a:solidFill>
                  <a:srgbClr val="1C263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復旧可能な状態</a:t>
            </a: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15AF68DF-0B66-65A1-C5DB-22DD3F2780AE}"/>
              </a:ext>
            </a:extLst>
          </p:cNvPr>
          <p:cNvSpPr/>
          <p:nvPr/>
        </p:nvSpPr>
        <p:spPr>
          <a:xfrm>
            <a:off x="6502400" y="5168900"/>
            <a:ext cx="4851400" cy="469900"/>
          </a:xfrm>
          <a:prstGeom prst="roundRect">
            <a:avLst/>
          </a:prstGeom>
          <a:solidFill>
            <a:srgbClr val="0D2750"/>
          </a:solidFill>
          <a:ln w="15875">
            <a:solidFill>
              <a:srgbClr val="0D27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B325F7AD-F417-F117-6403-B780BD6442BB}"/>
              </a:ext>
            </a:extLst>
          </p:cNvPr>
          <p:cNvSpPr txBox="1"/>
          <p:nvPr/>
        </p:nvSpPr>
        <p:spPr>
          <a:xfrm>
            <a:off x="6654800" y="5295900"/>
            <a:ext cx="4546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1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次</a:t>
            </a:r>
            <a:r>
              <a:rPr kumimoji="1" lang="en-US" altLang="ja-JP" sz="11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Endpoint</a:t>
            </a:r>
            <a:r>
              <a:rPr kumimoji="1" lang="ja-JP" altLang="en-US" sz="11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：</a:t>
            </a:r>
            <a:r>
              <a:rPr kumimoji="1" lang="en-US" altLang="ja-JP" sz="11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Description DB hit → Endpoint</a:t>
            </a:r>
            <a:r>
              <a:rPr kumimoji="1" lang="ja-JP" altLang="en-US" sz="11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依存部を新規解析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644EBEF-E6AB-EADF-3B0F-26BEAAD70FFE}"/>
              </a:ext>
            </a:extLst>
          </p:cNvPr>
          <p:cNvSpPr txBox="1"/>
          <p:nvPr/>
        </p:nvSpPr>
        <p:spPr>
          <a:xfrm>
            <a:off x="533400" y="65532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8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CONDUCTOR 0.2.1  |  2026-09-29</a:t>
            </a:r>
            <a:endParaRPr kumimoji="1" lang="ja-JP" altLang="en-US" sz="800">
              <a:solidFill>
                <a:srgbClr val="566675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0BD66FD-6478-BF60-A6F4-19C12EC90B63}"/>
              </a:ext>
            </a:extLst>
          </p:cNvPr>
          <p:cNvSpPr txBox="1"/>
          <p:nvPr/>
        </p:nvSpPr>
        <p:spPr>
          <a:xfrm>
            <a:off x="11176000" y="6553200"/>
            <a:ext cx="482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800">
                <a:solidFill>
                  <a:srgbClr val="56667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8</a:t>
            </a:r>
            <a:endParaRPr kumimoji="1" lang="ja-JP" altLang="en-US" sz="800">
              <a:solidFill>
                <a:srgbClr val="566675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23021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754</Words>
  <Application>Microsoft Office PowerPoint</Application>
  <PresentationFormat>ユーザー設定</PresentationFormat>
  <Paragraphs>155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游ゴシック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Takahiro Kimoto</dc:creator>
  <cp:lastModifiedBy>Takahiro Kimoto</cp:lastModifiedBy>
  <cp:revision>1</cp:revision>
  <dcterms:created xsi:type="dcterms:W3CDTF">2026-09-29T09:13:13Z</dcterms:created>
  <dcterms:modified xsi:type="dcterms:W3CDTF">2026-09-29T09:13:13Z</dcterms:modified>
</cp:coreProperties>
</file>